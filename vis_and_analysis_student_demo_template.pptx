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Default Extension="svg" ContentType="image/svg+xml"/>
  <Override PartName="/customXml/itemProps1.xml" ContentType="application/vnd.openxmlformats-officedocument.customXmlProperties+xml"/>
  <Override PartName="/ppt/slideLayouts/slideLayout8.xml" ContentType="application/vnd.openxmlformats-officedocument.presentationml.slideLayout+xml"/>
  <Override PartName="/customXml/itemProps2.xml" ContentType="application/vnd.openxmlformats-officedocument.customXmlProperties+xml"/>
  <Override PartName="/ppt/slideLayouts/slideLayout10.xml" ContentType="application/vnd.openxmlformats-officedocument.presentationml.slideLayout+xml"/>
  <Override PartName="/ppt/presentation.xml" ContentType="application/vnd.openxmlformats-officedocument.presentationml.presentation.main+xml"/>
  <Override PartName="/ppt/slideLayouts/slideLayout9.xml" ContentType="application/vnd.openxmlformats-officedocument.presentationml.slideLayout+xml"/>
  <Override PartName="/customXml/itemProps3.xml" ContentType="application/vnd.openxmlformats-officedocument.customXmlProperties+xml"/>
  <Override PartName="/ppt/slideLayouts/slideLayout5.xml" ContentType="application/vnd.openxmlformats-officedocument.presentationml.slideLayou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4"/>
  </p:sldMasterIdLst>
  <p:notesMasterIdLst>
    <p:notesMasterId r:id="rId18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/>
  <p:notesSz cx="6858000" cy="9144000"/>
  <p:custDataLst>
    <p:custData r:id="rId1"/>
    <p:custData r:id="rId2"/>
    <p:custData r:id="rId3"/>
  </p:custDataLst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70" d="100"/>
          <a:sy n="70" d="100"/>
        </p:scale>
        <p:origin x="512" y="36"/>
      </p:cViewPr>
      <p:guideLst>
        <p:guide pos="2160" orient="horz"/>
        <p:guide pos="3840"/>
        <p:guide pos="3249" orient="horz"/>
        <p:guide pos="7068"/>
        <p:guide pos="138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theme" Target="theme/theme1.xml"/><Relationship Id="rId6" Type="http://schemas.openxmlformats.org/officeDocument/2006/relationships/theme" Target="theme/theme2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 /><Relationship Id="rId20" Type="http://schemas.openxmlformats.org/officeDocument/2006/relationships/tableStyles" Target="tableStyles.xml" /><Relationship Id="rId21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9409901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251331223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8E359C8A-39F6-4045-9163-4042C4C26B15}" type="datetimeFigureOut">
              <a:rPr lang="en-GB"/>
              <a:t>17/11/2025</a:t>
            </a:fld>
            <a:endParaRPr lang="en-GB"/>
          </a:p>
        </p:txBody>
      </p:sp>
      <p:sp>
        <p:nvSpPr>
          <p:cNvPr id="1007313608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GB"/>
          </a:p>
        </p:txBody>
      </p:sp>
      <p:sp>
        <p:nvSpPr>
          <p:cNvPr id="554214924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396772120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456164102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0370952-48CC-46D7-9FCD-59FAD40CC025}" type="slidenum">
              <a:rPr lang="en-GB"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3647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49942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9538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D3F479-D4AD-35C2-04D0-AFCD5C6F531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74486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441125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64113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31DCE6A-C64C-AF04-CD13-525E4562A1E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59367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333508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51044963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0370952-48CC-46D7-9FCD-59FAD40CC025}" type="slidenum">
              <a:rPr lang="en-GB"/>
              <a:t>5</a:t>
            </a:fld>
            <a:endParaRPr lang="en-GB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241227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632614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05361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E90AB3D-3726-6CE0-7A45-7E6A34DAD8E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643740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742646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71422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AE567D-FD44-67CB-C7BF-67A50E23FC9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57277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105738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78229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DCC23D-F539-AF3A-9DA8-D4139A94F26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8423510" name="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494315846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</p:spPr>
        <p:txBody>
          <a:bodyPr>
            <a:noAutofit/>
          </a:bodyPr>
          <a:lstStyle/>
          <a:p>
            <a:pPr>
              <a:defRPr/>
            </a:pPr>
            <a:endParaRPr lang="en-US" sz="2000" b="0" strike="noStrike" spc="-1">
              <a:latin typeface="Arial"/>
            </a:endParaRPr>
          </a:p>
        </p:txBody>
      </p:sp>
      <p:sp>
        <p:nvSpPr>
          <p:cNvPr id="1283374506" name="TextShape 3"/>
          <p:cNvSpPr txBox="1"/>
          <p:nvPr/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="b">
            <a:noAutofit/>
          </a:bodyPr>
          <a:lstStyle/>
          <a:p>
            <a:pPr algn="r">
              <a:lnSpc>
                <a:spcPct val="100000"/>
              </a:lnSpc>
              <a:defRPr/>
            </a:pPr>
            <a:fld id="{F2152A03-473D-4693-94B3-2C4A26E4B7E1}" type="slidenum">
              <a:rPr lang="en-GB" sz="1200" b="0" strike="noStrike" spc="-1">
                <a:latin typeface="Times New Roman"/>
              </a:rPr>
              <a:t>10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56248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866762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01166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511EA8-1CB8-9E57-2BEB-04B7B218F46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3537343" name="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821620880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</p:spPr>
        <p:txBody>
          <a:bodyPr>
            <a:noAutofit/>
          </a:bodyPr>
          <a:lstStyle/>
          <a:p>
            <a:pPr>
              <a:defRPr/>
            </a:pPr>
            <a:endParaRPr lang="en-US" sz="2000" b="0" strike="noStrike" spc="-1">
              <a:latin typeface="Arial"/>
            </a:endParaRPr>
          </a:p>
        </p:txBody>
      </p:sp>
      <p:sp>
        <p:nvSpPr>
          <p:cNvPr id="1338396781" name="TextShape 3"/>
          <p:cNvSpPr txBox="1"/>
          <p:nvPr/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="b">
            <a:noAutofit/>
          </a:bodyPr>
          <a:lstStyle/>
          <a:p>
            <a:pPr algn="r">
              <a:lnSpc>
                <a:spcPct val="100000"/>
              </a:lnSpc>
              <a:defRPr/>
            </a:pPr>
            <a:fld id="{9CC74A4D-E600-4B52-BF69-B8B2F0EE1375}" type="slidenum">
              <a:rPr lang="en-GB" sz="1200" b="0" strike="noStrike" spc="-1">
                <a:latin typeface="Times New Roman"/>
              </a:rPr>
              <a:t>12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770880" name="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1880435924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</p:spPr>
        <p:txBody>
          <a:bodyPr>
            <a:noAutofit/>
          </a:bodyPr>
          <a:lstStyle/>
          <a:p>
            <a:pPr>
              <a:defRPr/>
            </a:pPr>
            <a:endParaRPr lang="en-US" sz="2000" b="0" strike="noStrike" spc="-1">
              <a:latin typeface="Arial"/>
            </a:endParaRPr>
          </a:p>
        </p:txBody>
      </p:sp>
      <p:sp>
        <p:nvSpPr>
          <p:cNvPr id="2004714491" name="TextShape 3"/>
          <p:cNvSpPr txBox="1"/>
          <p:nvPr/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="b">
            <a:noAutofit/>
          </a:bodyPr>
          <a:lstStyle/>
          <a:p>
            <a:pPr algn="r">
              <a:lnSpc>
                <a:spcPct val="100000"/>
              </a:lnSpc>
              <a:defRPr/>
            </a:pPr>
            <a:fld id="{677DA20C-D3E3-4F02-A624-D52A93CA4942}" type="slidenum">
              <a:rPr lang="en-GB" sz="1200" b="0" strike="noStrike" spc="-1">
                <a:latin typeface="Times New Roman"/>
              </a:rPr>
              <a:t>13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3F83FEF-342D-512E-CA31-0D3C7F63FE1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media1.svg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Cover">
    <p:bg>
      <p:bgPr shadeToTitle="0">
        <a:blipFill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30132121" name="Picture 3" descr="University of Hertfordshire logo"/>
          <p:cNvPicPr>
            <a:picLocks noChangeAspect="1"/>
          </p:cNvPicPr>
          <p:nvPr userDrawn="1"/>
        </p:nvPicPr>
        <p:blipFill rotWithShape="1">
          <a:blip r:embed="rId3"/>
          <a:stretch/>
        </p:blipFill>
        <p:spPr bwMode="auto">
          <a:xfrm>
            <a:off x="2844000" y="2854800"/>
            <a:ext cx="6501600" cy="115363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Section divider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7566915" name="Title 1"/>
          <p:cNvSpPr>
            <a:spLocks noGrp="1"/>
          </p:cNvSpPr>
          <p:nvPr>
            <p:ph type="ctrTitle" hasCustomPrompt="1"/>
          </p:nvPr>
        </p:nvSpPr>
        <p:spPr bwMode="auto">
          <a:xfrm>
            <a:off x="953999" y="2579715"/>
            <a:ext cx="10031157" cy="2160000"/>
          </a:xfrm>
        </p:spPr>
        <p:txBody>
          <a:bodyPr anchor="t" anchorCtr="0">
            <a:normAutofit/>
          </a:bodyPr>
          <a:lstStyle>
            <a:lvl1pPr algn="l">
              <a:lnSpc>
                <a:spcPts val="8000"/>
              </a:lnSpc>
              <a:defRPr sz="7500" b="1" spc="-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</a:t>
            </a:r>
            <a:endParaRPr lang="en-GB"/>
          </a:p>
        </p:txBody>
      </p:sp>
      <p:sp>
        <p:nvSpPr>
          <p:cNvPr id="635402268" name="Subtitle 2"/>
          <p:cNvSpPr>
            <a:spLocks noGrp="1"/>
          </p:cNvSpPr>
          <p:nvPr>
            <p:ph type="subTitle" idx="1" hasCustomPrompt="1"/>
          </p:nvPr>
        </p:nvSpPr>
        <p:spPr bwMode="auto">
          <a:xfrm>
            <a:off x="954000" y="1890000"/>
            <a:ext cx="10031156" cy="360000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3600" b="1" spc="-1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</a:t>
            </a:r>
            <a:endParaRPr lang="en-GB"/>
          </a:p>
        </p:txBody>
      </p:sp>
      <p:sp>
        <p:nvSpPr>
          <p:cNvPr id="1474633654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965289" y="779733"/>
            <a:ext cx="7176911" cy="230832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GB"/>
              <a:t>PRESENTATION TITLE (ADD VIA INSERT, HEADER &amp; FOOTER)</a:t>
            </a:r>
            <a:endParaRPr lang="en-GB">
              <a:solidFill>
                <a:schemeClr val="bg1"/>
              </a:solidFill>
            </a:endParaRPr>
          </a:p>
        </p:txBody>
      </p:sp>
      <p:sp>
        <p:nvSpPr>
          <p:cNvPr id="929699201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0616400" y="779733"/>
            <a:ext cx="622800" cy="230832"/>
          </a:xfrm>
        </p:spPr>
        <p:txBody>
          <a:bodyPr wrap="square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4D355CA-84B7-41B1-B164-8BB439CC7C6B}" type="slidenum">
              <a:rPr lang="en-GB"/>
              <a:t>‹#›</a:t>
            </a:fld>
            <a:endParaRPr lang="en-GB"/>
          </a:p>
        </p:txBody>
      </p:sp>
      <p:pic>
        <p:nvPicPr>
          <p:cNvPr id="2011524207" name="Picture 7" descr="A picture containing drawing&#10;&#10;Description automatically generated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954000" y="5511600"/>
            <a:ext cx="2242800" cy="39795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Title page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7431138" name="Subtitle 2"/>
          <p:cNvSpPr>
            <a:spLocks noGrp="1"/>
          </p:cNvSpPr>
          <p:nvPr>
            <p:ph type="subTitle" idx="1"/>
          </p:nvPr>
        </p:nvSpPr>
        <p:spPr bwMode="auto">
          <a:xfrm>
            <a:off x="954000" y="1890000"/>
            <a:ext cx="7200000" cy="360000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3600" b="1" spc="-1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1434133030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965289" y="791022"/>
            <a:ext cx="7176911" cy="230832"/>
          </a:xfrm>
        </p:spPr>
        <p:txBody>
          <a:bodyPr>
            <a:noAutofit/>
          </a:bodyPr>
          <a:lstStyle>
            <a:lvl1pPr>
              <a:defRPr>
                <a:solidFill>
                  <a:srgbClr val="8F9898"/>
                </a:solidFill>
              </a:defRPr>
            </a:lvl1pPr>
          </a:lstStyle>
          <a:p>
            <a:pPr>
              <a:defRPr/>
            </a:pPr>
            <a:r>
              <a:rPr lang="en-GB"/>
              <a:t>PRESENTATION TITLE (ADD VIA INSERT, HEADER &amp; FOOTER)</a:t>
            </a:r>
            <a:endParaRPr/>
          </a:p>
        </p:txBody>
      </p:sp>
      <p:sp>
        <p:nvSpPr>
          <p:cNvPr id="2125588896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0616400" y="791022"/>
            <a:ext cx="622800" cy="230832"/>
          </a:xfrm>
        </p:spPr>
        <p:txBody>
          <a:bodyPr wrap="square">
            <a:noAutofit/>
          </a:bodyPr>
          <a:lstStyle>
            <a:lvl1pPr>
              <a:defRPr>
                <a:solidFill>
                  <a:srgbClr val="8F9898"/>
                </a:solidFill>
              </a:defRPr>
            </a:lvl1pPr>
          </a:lstStyle>
          <a:p>
            <a:pPr>
              <a:defRPr/>
            </a:pPr>
            <a:fld id="{E4D355CA-84B7-41B1-B164-8BB439CC7C6B}" type="slidenum">
              <a:rPr lang="en-GB"/>
              <a:t>‹#›</a:t>
            </a:fld>
            <a:endParaRPr lang="en-GB"/>
          </a:p>
        </p:txBody>
      </p:sp>
      <p:sp>
        <p:nvSpPr>
          <p:cNvPr id="1727995210" name="Title 1"/>
          <p:cNvSpPr>
            <a:spLocks noGrp="1"/>
          </p:cNvSpPr>
          <p:nvPr>
            <p:ph type="ctrTitle" hasCustomPrompt="1"/>
          </p:nvPr>
        </p:nvSpPr>
        <p:spPr bwMode="auto">
          <a:xfrm>
            <a:off x="953999" y="2579715"/>
            <a:ext cx="10031157" cy="2160000"/>
          </a:xfrm>
        </p:spPr>
        <p:txBody>
          <a:bodyPr anchor="t" anchorCtr="0">
            <a:normAutofit/>
          </a:bodyPr>
          <a:lstStyle>
            <a:lvl1pPr algn="l">
              <a:lnSpc>
                <a:spcPts val="8000"/>
              </a:lnSpc>
              <a:defRPr sz="7500" b="1" spc="-2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</a:t>
            </a:r>
            <a:endParaRPr lang="en-GB"/>
          </a:p>
        </p:txBody>
      </p:sp>
      <p:sp>
        <p:nvSpPr>
          <p:cNvPr id="270044183" name="Rectangle 9"/>
          <p:cNvSpPr/>
          <p:nvPr userDrawn="1"/>
        </p:nvSpPr>
        <p:spPr bwMode="auto"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>
              <a:solidFill>
                <a:schemeClr val="accent1"/>
              </a:solidFill>
            </a:endParaRPr>
          </a:p>
        </p:txBody>
      </p:sp>
      <p:pic>
        <p:nvPicPr>
          <p:cNvPr id="1544641900" name="Picture 10"/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 bwMode="auto">
          <a:xfrm>
            <a:off x="953998" y="5517266"/>
            <a:ext cx="2244881" cy="39690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itle and Two Content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322128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8803494" name="Content Placeholder 2"/>
          <p:cNvSpPr>
            <a:spLocks noGrp="1"/>
          </p:cNvSpPr>
          <p:nvPr>
            <p:ph sz="half" idx="1" hasCustomPrompt="1"/>
          </p:nvPr>
        </p:nvSpPr>
        <p:spPr bwMode="auto">
          <a:xfrm>
            <a:off x="973668" y="2717444"/>
            <a:ext cx="4903200" cy="31752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>
                <a:solidFill>
                  <a:srgbClr val="203232"/>
                </a:solidFill>
              </a:defRPr>
            </a:lvl1pPr>
            <a:lvl2pPr>
              <a:defRPr lang="en-US"/>
            </a:lvl2pPr>
            <a:lvl3pPr>
              <a:defRPr lang="en-GB"/>
            </a:lvl3pPr>
            <a:lvl4pPr>
              <a:defRPr/>
            </a:lvl4pPr>
            <a:lvl5pPr>
              <a:defRPr>
                <a:solidFill>
                  <a:schemeClr val="accent4"/>
                </a:solidFill>
              </a:defRPr>
            </a:lvl5pPr>
          </a:lstStyle>
          <a:p>
            <a:pPr lvl="0">
              <a:defRPr/>
            </a:pPr>
            <a:r>
              <a:rPr lang="en-GB"/>
              <a:t>Add Text</a:t>
            </a:r>
            <a:endParaRPr/>
          </a:p>
        </p:txBody>
      </p:sp>
      <p:sp>
        <p:nvSpPr>
          <p:cNvPr id="491054376" name="Content Placeholder 3"/>
          <p:cNvSpPr>
            <a:spLocks noGrp="1"/>
          </p:cNvSpPr>
          <p:nvPr>
            <p:ph sz="half" idx="2" hasCustomPrompt="1"/>
          </p:nvPr>
        </p:nvSpPr>
        <p:spPr bwMode="auto">
          <a:xfrm>
            <a:off x="6336000" y="2717444"/>
            <a:ext cx="4456800" cy="3175200"/>
          </a:xfrm>
        </p:spPr>
        <p:txBody>
          <a:bodyPr vert="horz" lIns="0" tIns="0" rIns="0" bIns="0" rtlCol="0">
            <a:noAutofit/>
          </a:bodyPr>
          <a:lstStyle>
            <a:lvl1pPr marL="0" marR="0" indent="0" algn="l" defTabSz="914400" rtl="0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/>
              <a:buNone/>
              <a:defRPr lang="en-US" b="0">
                <a:solidFill>
                  <a:srgbClr val="203232"/>
                </a:solidFill>
              </a:defRPr>
            </a:lvl1pPr>
            <a:lvl2pPr>
              <a:defRPr lang="en-US"/>
            </a:lvl2pPr>
            <a:lvl3pPr>
              <a:defRPr lang="en-GB"/>
            </a:lvl3pPr>
            <a:lvl4pPr>
              <a:defRPr/>
            </a:lvl4pPr>
            <a:lvl5pPr>
              <a:defRPr>
                <a:solidFill>
                  <a:schemeClr val="accent4"/>
                </a:solidFill>
              </a:defRPr>
            </a:lvl5pPr>
          </a:lstStyle>
          <a:p>
            <a:pPr marL="0" marR="0" lvl="0" indent="0" algn="l" defTabSz="914400" rtl="0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/>
              <a:buNone/>
              <a:defRPr/>
            </a:pPr>
            <a:r>
              <a:rPr lang="en-GB" b="0"/>
              <a:t>Add Text</a:t>
            </a:r>
            <a:endParaRPr lang="en-GB"/>
          </a:p>
        </p:txBody>
      </p:sp>
      <p:sp>
        <p:nvSpPr>
          <p:cNvPr id="70072950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PRESENTATION TITLE (ADD VIA INSERT, HEADER &amp; FOOTER)</a:t>
            </a:r>
            <a:endParaRPr/>
          </a:p>
        </p:txBody>
      </p:sp>
      <p:sp>
        <p:nvSpPr>
          <p:cNvPr id="8428652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E4D355CA-84B7-41B1-B164-8BB439CC7C6B}" type="slidenum">
              <a:rPr lang="en-GB"/>
              <a:t>‹#›</a:t>
            </a:fld>
            <a:endParaRPr lang="en-GB"/>
          </a:p>
        </p:txBody>
      </p:sp>
      <p:sp>
        <p:nvSpPr>
          <p:cNvPr id="535663480" name="Rectangle 7"/>
          <p:cNvSpPr/>
          <p:nvPr userDrawn="1"/>
        </p:nvSpPr>
        <p:spPr bwMode="auto"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>
              <a:solidFill>
                <a:schemeClr val="accent1"/>
              </a:solidFill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766999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279143032" name="Content Placeholder 2"/>
          <p:cNvSpPr>
            <a:spLocks noGrp="1"/>
          </p:cNvSpPr>
          <p:nvPr>
            <p:ph idx="1" hasCustomPrompt="1"/>
          </p:nvPr>
        </p:nvSpPr>
        <p:spPr bwMode="auto">
          <a:xfrm>
            <a:off x="970139" y="2717600"/>
            <a:ext cx="10251722" cy="31752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>
                <a:solidFill>
                  <a:srgbClr val="203232"/>
                </a:solidFill>
              </a:defRPr>
            </a:lvl1pPr>
            <a:lvl2pPr>
              <a:defRPr lang="en-US"/>
            </a:lvl2pPr>
            <a:lvl3pPr>
              <a:defRPr lang="en-GB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lvl="0">
              <a:defRPr/>
            </a:pPr>
            <a:r>
              <a:rPr lang="en-GB"/>
              <a:t>Add Text</a:t>
            </a:r>
            <a:endParaRPr/>
          </a:p>
        </p:txBody>
      </p:sp>
      <p:sp>
        <p:nvSpPr>
          <p:cNvPr id="131278446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PRESENTATION TITLE (ADD VIA INSERT, HEADER &amp; FOOTER)</a:t>
            </a:r>
            <a:endParaRPr/>
          </a:p>
        </p:txBody>
      </p:sp>
      <p:sp>
        <p:nvSpPr>
          <p:cNvPr id="64399708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E4D355CA-84B7-41B1-B164-8BB439CC7C6B}" type="slidenum">
              <a:rPr lang="en-GB"/>
              <a:t>‹#›</a:t>
            </a:fld>
            <a:endParaRPr lang="en-GB"/>
          </a:p>
        </p:txBody>
      </p:sp>
      <p:sp>
        <p:nvSpPr>
          <p:cNvPr id="1133885145" name="Rectangle 6"/>
          <p:cNvSpPr/>
          <p:nvPr userDrawn="1"/>
        </p:nvSpPr>
        <p:spPr bwMode="auto"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 Large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0459414" name="Title 1"/>
          <p:cNvSpPr>
            <a:spLocks noGrp="1"/>
          </p:cNvSpPr>
          <p:nvPr>
            <p:ph type="title" hasCustomPrompt="1"/>
          </p:nvPr>
        </p:nvSpPr>
        <p:spPr bwMode="auto">
          <a:xfrm>
            <a:off x="954000" y="775255"/>
            <a:ext cx="7361569" cy="365125"/>
          </a:xfrm>
        </p:spPr>
        <p:txBody>
          <a:bodyPr/>
          <a:lstStyle/>
          <a:p>
            <a:pPr>
              <a:defRPr/>
            </a:pPr>
            <a:r>
              <a:rPr lang="en-US"/>
              <a:t>Click to add title.</a:t>
            </a:r>
            <a:endParaRPr lang="en-GB"/>
          </a:p>
        </p:txBody>
      </p:sp>
      <p:sp>
        <p:nvSpPr>
          <p:cNvPr id="262593317" name="Content Placeholder 2"/>
          <p:cNvSpPr>
            <a:spLocks noGrp="1"/>
          </p:cNvSpPr>
          <p:nvPr>
            <p:ph idx="1" hasCustomPrompt="1"/>
          </p:nvPr>
        </p:nvSpPr>
        <p:spPr bwMode="auto">
          <a:xfrm>
            <a:off x="970139" y="1367692"/>
            <a:ext cx="10251722" cy="4923693"/>
          </a:xfrm>
        </p:spPr>
        <p:txBody>
          <a:bodyPr vert="horz" lIns="0" tIns="0" rIns="0" bIns="0" rtlCol="0">
            <a:noAutofit/>
          </a:bodyPr>
          <a:lstStyle>
            <a:lvl1pPr>
              <a:defRPr lang="en-US" b="0">
                <a:solidFill>
                  <a:srgbClr val="203232"/>
                </a:solidFill>
              </a:defRPr>
            </a:lvl1pPr>
            <a:lvl2pPr>
              <a:defRPr lang="en-US"/>
            </a:lvl2pPr>
            <a:lvl3pPr>
              <a:defRPr lang="en-GB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lvl="0">
              <a:defRPr/>
            </a:pPr>
            <a:r>
              <a:rPr lang="en-GB"/>
              <a:t>Add Text</a:t>
            </a:r>
            <a:endParaRPr/>
          </a:p>
        </p:txBody>
      </p:sp>
      <p:sp>
        <p:nvSpPr>
          <p:cNvPr id="205619367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E4D355CA-84B7-41B1-B164-8BB439CC7C6B}" type="slidenum">
              <a:rPr lang="en-GB"/>
              <a:t>‹#›</a:t>
            </a:fld>
            <a:endParaRPr lang="en-GB"/>
          </a:p>
        </p:txBody>
      </p:sp>
      <p:sp>
        <p:nvSpPr>
          <p:cNvPr id="1649919525" name="Rectangle 6"/>
          <p:cNvSpPr/>
          <p:nvPr userDrawn="1"/>
        </p:nvSpPr>
        <p:spPr bwMode="auto"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Title and Content Large blue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03252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4D355CA-84B7-41B1-B164-8BB439CC7C6B}" type="slidenum">
              <a:rPr lang="en-GB"/>
              <a:t>‹#›</a:t>
            </a:fld>
            <a:endParaRPr lang="en-GB"/>
          </a:p>
        </p:txBody>
      </p:sp>
      <p:sp>
        <p:nvSpPr>
          <p:cNvPr id="1820794344" name="Content Placeholder 2"/>
          <p:cNvSpPr>
            <a:spLocks noGrp="1"/>
          </p:cNvSpPr>
          <p:nvPr>
            <p:ph idx="1" hasCustomPrompt="1"/>
          </p:nvPr>
        </p:nvSpPr>
        <p:spPr bwMode="auto">
          <a:xfrm>
            <a:off x="970139" y="1367692"/>
            <a:ext cx="10251722" cy="4923693"/>
          </a:xfrm>
        </p:spPr>
        <p:txBody>
          <a:bodyPr vert="horz" lIns="0" tIns="0" rIns="0" bIns="0" rtlCol="0">
            <a:noAutofit/>
          </a:bodyPr>
          <a:lstStyle>
            <a:lvl1pPr>
              <a:defRPr lang="en-US" b="0">
                <a:solidFill>
                  <a:schemeClr val="bg1"/>
                </a:solidFill>
              </a:defRPr>
            </a:lvl1pPr>
            <a:lvl2pPr>
              <a:defRPr lang="en-US">
                <a:solidFill>
                  <a:schemeClr val="bg1"/>
                </a:solidFill>
              </a:defRPr>
            </a:lvl2pPr>
            <a:lvl3pPr>
              <a:defRPr lang="en-GB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en-US"/>
              <a:t>Add Text</a:t>
            </a:r>
            <a:endParaRPr lang="en-GB"/>
          </a:p>
        </p:txBody>
      </p:sp>
      <p:sp>
        <p:nvSpPr>
          <p:cNvPr id="1430807918" name="Title 1"/>
          <p:cNvSpPr>
            <a:spLocks noGrp="1"/>
          </p:cNvSpPr>
          <p:nvPr>
            <p:ph type="title" hasCustomPrompt="1"/>
          </p:nvPr>
        </p:nvSpPr>
        <p:spPr bwMode="auto">
          <a:xfrm>
            <a:off x="954000" y="775255"/>
            <a:ext cx="7361569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Click to add title.</a:t>
            </a:r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Title + Image + Content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446619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153844360" name="Content Placeholder 3"/>
          <p:cNvSpPr>
            <a:spLocks noGrp="1"/>
          </p:cNvSpPr>
          <p:nvPr>
            <p:ph sz="half" idx="2" hasCustomPrompt="1"/>
          </p:nvPr>
        </p:nvSpPr>
        <p:spPr bwMode="auto">
          <a:xfrm>
            <a:off x="7835952" y="2728800"/>
            <a:ext cx="2959200" cy="31640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>
                <a:solidFill>
                  <a:srgbClr val="203232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GB" spc="-100"/>
            </a:lvl4pPr>
            <a:lvl5pPr>
              <a:defRPr spc="-100">
                <a:solidFill>
                  <a:schemeClr val="accent4"/>
                </a:solidFill>
              </a:defRPr>
            </a:lvl5pPr>
          </a:lstStyle>
          <a:p>
            <a:pPr lvl="0">
              <a:defRPr/>
            </a:pPr>
            <a:r>
              <a:rPr lang="en-GB" b="0"/>
              <a:t>Add Text</a:t>
            </a:r>
            <a:endParaRPr lang="en-GB"/>
          </a:p>
        </p:txBody>
      </p:sp>
      <p:sp>
        <p:nvSpPr>
          <p:cNvPr id="160194570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PRESENTATION TITLE (ADD VIA INSERT, HEADER &amp; FOOTER)</a:t>
            </a:r>
            <a:endParaRPr/>
          </a:p>
        </p:txBody>
      </p:sp>
      <p:sp>
        <p:nvSpPr>
          <p:cNvPr id="18204635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E4D355CA-84B7-41B1-B164-8BB439CC7C6B}" type="slidenum">
              <a:rPr lang="en-GB"/>
              <a:t>‹#›</a:t>
            </a:fld>
            <a:endParaRPr lang="en-GB"/>
          </a:p>
        </p:txBody>
      </p:sp>
      <p:sp>
        <p:nvSpPr>
          <p:cNvPr id="397515687" name="Picture Placeholder 9"/>
          <p:cNvSpPr>
            <a:spLocks noGrp="1"/>
          </p:cNvSpPr>
          <p:nvPr>
            <p:ph type="pic" sz="quarter" idx="13"/>
          </p:nvPr>
        </p:nvSpPr>
        <p:spPr bwMode="auto">
          <a:xfrm>
            <a:off x="954087" y="2728913"/>
            <a:ext cx="6400800" cy="4129086"/>
          </a:xfrm>
        </p:spPr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511754527" name="Rectangle 10"/>
          <p:cNvSpPr/>
          <p:nvPr userDrawn="1"/>
        </p:nvSpPr>
        <p:spPr bwMode="auto"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Title + Content + 2 Images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945234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12605624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PRESENTATION TITLE (ADD VIA INSERT, HEADER &amp; FOOTER)</a:t>
            </a:r>
            <a:endParaRPr/>
          </a:p>
        </p:txBody>
      </p:sp>
      <p:sp>
        <p:nvSpPr>
          <p:cNvPr id="191180766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E4D355CA-84B7-41B1-B164-8BB439CC7C6B}" type="slidenum">
              <a:rPr lang="en-GB"/>
              <a:t>‹#›</a:t>
            </a:fld>
            <a:endParaRPr lang="en-GB"/>
          </a:p>
        </p:txBody>
      </p:sp>
      <p:sp>
        <p:nvSpPr>
          <p:cNvPr id="1873959535" name="Rectangle 7"/>
          <p:cNvSpPr/>
          <p:nvPr userDrawn="1"/>
        </p:nvSpPr>
        <p:spPr bwMode="auto"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/>
          </a:p>
        </p:txBody>
      </p:sp>
      <p:sp>
        <p:nvSpPr>
          <p:cNvPr id="1803019621" name="Content Placeholder 9"/>
          <p:cNvSpPr>
            <a:spLocks noGrp="1"/>
          </p:cNvSpPr>
          <p:nvPr>
            <p:ph sz="quarter" idx="13" hasCustomPrompt="1"/>
          </p:nvPr>
        </p:nvSpPr>
        <p:spPr bwMode="auto">
          <a:xfrm>
            <a:off x="953999" y="2728800"/>
            <a:ext cx="2959199" cy="31640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>
                <a:solidFill>
                  <a:srgbClr val="203232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GB">
                <a:solidFill>
                  <a:schemeClr val="accent4"/>
                </a:solidFill>
              </a:defRPr>
            </a:lvl5pPr>
          </a:lstStyle>
          <a:p>
            <a:pPr lvl="0">
              <a:defRPr/>
            </a:pPr>
            <a:r>
              <a:rPr lang="en-GB" b="0"/>
              <a:t>Add Text</a:t>
            </a:r>
            <a:endParaRPr lang="en-GB"/>
          </a:p>
        </p:txBody>
      </p:sp>
      <p:sp>
        <p:nvSpPr>
          <p:cNvPr id="1372327767" name="Content Placeholder 9"/>
          <p:cNvSpPr>
            <a:spLocks noGrp="1"/>
          </p:cNvSpPr>
          <p:nvPr>
            <p:ph sz="quarter" idx="14" hasCustomPrompt="1"/>
          </p:nvPr>
        </p:nvSpPr>
        <p:spPr bwMode="auto">
          <a:xfrm>
            <a:off x="8278803" y="2728800"/>
            <a:ext cx="2959199" cy="31640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>
                <a:solidFill>
                  <a:srgbClr val="203232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GB">
                <a:solidFill>
                  <a:schemeClr val="accent4"/>
                </a:solidFill>
              </a:defRPr>
            </a:lvl5pPr>
          </a:lstStyle>
          <a:p>
            <a:pPr lvl="0">
              <a:defRPr/>
            </a:pPr>
            <a:r>
              <a:rPr lang="en-GB" b="0"/>
              <a:t>Add Text</a:t>
            </a:r>
            <a:endParaRPr lang="en-GB"/>
          </a:p>
        </p:txBody>
      </p:sp>
      <p:sp>
        <p:nvSpPr>
          <p:cNvPr id="1005222850" name="Content Placeholder 9"/>
          <p:cNvSpPr>
            <a:spLocks noGrp="1"/>
          </p:cNvSpPr>
          <p:nvPr>
            <p:ph sz="quarter" idx="15" hasCustomPrompt="1"/>
          </p:nvPr>
        </p:nvSpPr>
        <p:spPr bwMode="auto">
          <a:xfrm>
            <a:off x="4613975" y="2728800"/>
            <a:ext cx="2959199" cy="31640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>
                <a:solidFill>
                  <a:srgbClr val="203232"/>
                </a:solidFill>
              </a:defRPr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GB">
                <a:solidFill>
                  <a:schemeClr val="accent4"/>
                </a:solidFill>
              </a:defRPr>
            </a:lvl5pPr>
          </a:lstStyle>
          <a:p>
            <a:pPr lvl="0">
              <a:defRPr/>
            </a:pPr>
            <a:r>
              <a:rPr lang="en-GB" b="0"/>
              <a:t>Add Text</a:t>
            </a:r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Full Bleed Image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2249078" name="Picture Placeholder 2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0" y="0"/>
            <a:ext cx="12192000" cy="685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/>
              <a:t>Picture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Video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265512" name="Media Placeholder 8"/>
          <p:cNvSpPr>
            <a:spLocks noGrp="1"/>
          </p:cNvSpPr>
          <p:nvPr>
            <p:ph type="media" sz="quarter" idx="10"/>
          </p:nvPr>
        </p:nvSpPr>
        <p:spPr bwMode="auto">
          <a:xfrm>
            <a:off x="140400" y="140400"/>
            <a:ext cx="11916000" cy="6580800"/>
          </a:xfrm>
          <a:prstGeom prst="rect">
            <a:avLst/>
          </a:prstGeom>
          <a:solidFill>
            <a:schemeClr val="bg1"/>
          </a:solidFill>
        </p:spPr>
        <p:txBody>
          <a:bodyPr/>
          <a:lstStyle/>
          <a:p>
            <a:pPr>
              <a:defRPr/>
            </a:pPr>
            <a:endParaRPr lang="en-GB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userDrawn="1">
  <p:cSld name="Icons and text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971138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PRESENTATION TITLE (ADD VIA INSERT, HEADER &amp; FOOTER)</a:t>
            </a:r>
            <a:endParaRPr/>
          </a:p>
        </p:txBody>
      </p:sp>
      <p:sp>
        <p:nvSpPr>
          <p:cNvPr id="204332518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E4D355CA-84B7-41B1-B164-8BB439CC7C6B}" type="slidenum">
              <a:rPr lang="en-GB"/>
              <a:t>‹#›</a:t>
            </a:fld>
            <a:endParaRPr lang="en-GB"/>
          </a:p>
        </p:txBody>
      </p:sp>
      <p:sp>
        <p:nvSpPr>
          <p:cNvPr id="398525268" name="Rectangle 6"/>
          <p:cNvSpPr/>
          <p:nvPr userDrawn="1"/>
        </p:nvSpPr>
        <p:spPr bwMode="auto"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GB"/>
          </a:p>
        </p:txBody>
      </p:sp>
      <p:sp>
        <p:nvSpPr>
          <p:cNvPr id="1688517837" name="Content Placeholder 2"/>
          <p:cNvSpPr>
            <a:spLocks noGrp="1"/>
          </p:cNvSpPr>
          <p:nvPr>
            <p:ph idx="18" hasCustomPrompt="1"/>
          </p:nvPr>
        </p:nvSpPr>
        <p:spPr bwMode="auto">
          <a:xfrm>
            <a:off x="970139" y="4079342"/>
            <a:ext cx="3144661" cy="2252134"/>
          </a:xfrm>
        </p:spPr>
        <p:txBody>
          <a:bodyPr vert="horz" lIns="0" tIns="0" rIns="0" bIns="0" rtlCol="0">
            <a:noAutofit/>
          </a:bodyPr>
          <a:lstStyle>
            <a:lvl1pPr>
              <a:defRPr lang="en-US" b="0">
                <a:solidFill>
                  <a:srgbClr val="203232"/>
                </a:solidFill>
              </a:defRPr>
            </a:lvl1pPr>
            <a:lvl2pPr>
              <a:defRPr lang="en-US"/>
            </a:lvl2pPr>
            <a:lvl3pPr>
              <a:defRPr lang="en-GB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lvl="0">
              <a:defRPr/>
            </a:pPr>
            <a:r>
              <a:rPr lang="en-GB"/>
              <a:t>Add Text</a:t>
            </a:r>
            <a:endParaRPr/>
          </a:p>
        </p:txBody>
      </p:sp>
      <p:sp>
        <p:nvSpPr>
          <p:cNvPr id="2010493272" name="Content Placeholder 2"/>
          <p:cNvSpPr>
            <a:spLocks noGrp="1"/>
          </p:cNvSpPr>
          <p:nvPr>
            <p:ph idx="19" hasCustomPrompt="1"/>
          </p:nvPr>
        </p:nvSpPr>
        <p:spPr bwMode="auto">
          <a:xfrm>
            <a:off x="8077200" y="4062209"/>
            <a:ext cx="3144661" cy="2252134"/>
          </a:xfrm>
        </p:spPr>
        <p:txBody>
          <a:bodyPr vert="horz" lIns="0" tIns="0" rIns="0" bIns="0" rtlCol="0">
            <a:noAutofit/>
          </a:bodyPr>
          <a:lstStyle>
            <a:lvl1pPr marL="0" marR="0" indent="0" algn="l" defTabSz="914400" rtl="0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/>
              <a:buNone/>
              <a:defRPr lang="en-US" b="0">
                <a:solidFill>
                  <a:srgbClr val="203232"/>
                </a:solidFill>
              </a:defRPr>
            </a:lvl1pPr>
            <a:lvl2pPr>
              <a:defRPr lang="en-US"/>
            </a:lvl2pPr>
            <a:lvl3pPr>
              <a:defRPr lang="en-GB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marL="0" marR="0" lvl="0" indent="0" algn="l" defTabSz="914400" rtl="0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/>
              <a:buNone/>
              <a:defRPr/>
            </a:pPr>
            <a:r>
              <a:rPr lang="en-GB"/>
              <a:t>Add </a:t>
            </a:r>
            <a:r>
              <a:rPr lang="en-US"/>
              <a:t>Text</a:t>
            </a:r>
            <a:endParaRPr lang="en-GB"/>
          </a:p>
        </p:txBody>
      </p:sp>
      <p:sp>
        <p:nvSpPr>
          <p:cNvPr id="591862253" name="Content Placeholder 2"/>
          <p:cNvSpPr>
            <a:spLocks noGrp="1"/>
          </p:cNvSpPr>
          <p:nvPr>
            <p:ph idx="20" hasCustomPrompt="1"/>
          </p:nvPr>
        </p:nvSpPr>
        <p:spPr bwMode="auto">
          <a:xfrm>
            <a:off x="4523669" y="4062209"/>
            <a:ext cx="3144661" cy="2252134"/>
          </a:xfrm>
        </p:spPr>
        <p:txBody>
          <a:bodyPr vert="horz" lIns="0" tIns="0" rIns="0" bIns="0" rtlCol="0">
            <a:noAutofit/>
          </a:bodyPr>
          <a:lstStyle>
            <a:lvl1pPr marL="0" marR="0" indent="0" algn="l" defTabSz="914400" rtl="0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/>
              <a:buNone/>
              <a:defRPr lang="en-US" b="0">
                <a:solidFill>
                  <a:srgbClr val="203232"/>
                </a:solidFill>
              </a:defRPr>
            </a:lvl1pPr>
            <a:lvl2pPr>
              <a:defRPr lang="en-US"/>
            </a:lvl2pPr>
            <a:lvl3pPr>
              <a:defRPr lang="en-GB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marL="0" marR="0" lvl="0" indent="0" algn="l" defTabSz="914400" rtl="0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/>
              <a:buNone/>
              <a:defRPr/>
            </a:pPr>
            <a:r>
              <a:rPr lang="en-GB"/>
              <a:t>Add </a:t>
            </a:r>
            <a:r>
              <a:rPr lang="en-US"/>
              <a:t>Text</a:t>
            </a:r>
            <a:endParaRPr/>
          </a:p>
        </p:txBody>
      </p:sp>
      <p:sp>
        <p:nvSpPr>
          <p:cNvPr id="1064535575" name="Picture Placeholder 7"/>
          <p:cNvSpPr>
            <a:spLocks noGrp="1"/>
          </p:cNvSpPr>
          <p:nvPr>
            <p:ph type="pic" sz="quarter" idx="23"/>
          </p:nvPr>
        </p:nvSpPr>
        <p:spPr bwMode="auto">
          <a:xfrm>
            <a:off x="1462175" y="1640942"/>
            <a:ext cx="2160587" cy="2160588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53144466" name="Picture Placeholder 7"/>
          <p:cNvSpPr>
            <a:spLocks noGrp="1"/>
          </p:cNvSpPr>
          <p:nvPr>
            <p:ph type="pic" sz="quarter" idx="24"/>
          </p:nvPr>
        </p:nvSpPr>
        <p:spPr bwMode="auto">
          <a:xfrm>
            <a:off x="5015705" y="1640942"/>
            <a:ext cx="2160587" cy="2160588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59945146" name="Picture Placeholder 7"/>
          <p:cNvSpPr>
            <a:spLocks noGrp="1"/>
          </p:cNvSpPr>
          <p:nvPr>
            <p:ph type="pic" sz="quarter" idx="25"/>
          </p:nvPr>
        </p:nvSpPr>
        <p:spPr bwMode="auto">
          <a:xfrm>
            <a:off x="8569236" y="1640942"/>
            <a:ext cx="2160587" cy="2160588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End page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37004938" name="Picture 6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954002" y="5511600"/>
            <a:ext cx="2242795" cy="397958"/>
          </a:xfrm>
          <a:prstGeom prst="rect">
            <a:avLst/>
          </a:prstGeom>
        </p:spPr>
      </p:pic>
      <p:sp>
        <p:nvSpPr>
          <p:cNvPr id="244730908" name="Title 1"/>
          <p:cNvSpPr>
            <a:spLocks noGrp="1"/>
          </p:cNvSpPr>
          <p:nvPr>
            <p:ph type="ctrTitle"/>
          </p:nvPr>
        </p:nvSpPr>
        <p:spPr bwMode="auto">
          <a:xfrm>
            <a:off x="926843" y="1964352"/>
            <a:ext cx="11828559" cy="1051570"/>
          </a:xfrm>
        </p:spPr>
        <p:txBody>
          <a:bodyPr vert="horz" wrap="none" lIns="0" tIns="0" rIns="0" bIns="0" rtlCol="0" anchor="t" anchorCtr="0">
            <a:noAutofit/>
          </a:bodyPr>
          <a:lstStyle>
            <a:lvl1pPr>
              <a:lnSpc>
                <a:spcPct val="100000"/>
              </a:lnSpc>
              <a:defRPr lang="en-GB" sz="7400" spc="-300">
                <a:solidFill>
                  <a:schemeClr val="bg1"/>
                </a:solidFill>
              </a:defRPr>
            </a:lvl1pPr>
          </a:lstStyle>
          <a:p>
            <a:pPr lvl="0">
              <a:lnSpc>
                <a:spcPts val="8186"/>
              </a:lnSpc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87976974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965289" y="779733"/>
            <a:ext cx="7176911" cy="230832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GB"/>
              <a:t>PRESENTATION TITLE (ADD VIA INSERT, HEADER &amp; FOOTER)</a:t>
            </a:r>
            <a:endParaRPr lang="en-GB">
              <a:solidFill>
                <a:schemeClr val="bg1"/>
              </a:solidFill>
            </a:endParaRPr>
          </a:p>
        </p:txBody>
      </p:sp>
      <p:sp>
        <p:nvSpPr>
          <p:cNvPr id="377010616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0616400" y="779733"/>
            <a:ext cx="622800" cy="230832"/>
          </a:xfrm>
        </p:spPr>
        <p:txBody>
          <a:bodyPr wrap="square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4D355CA-84B7-41B1-B164-8BB439CC7C6B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type="blank" userDrawn="1">
  <p:cSld name="Blank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5834907" name="Title Placeholder 1"/>
          <p:cNvSpPr>
            <a:spLocks noGrp="1"/>
          </p:cNvSpPr>
          <p:nvPr>
            <p:ph type="title"/>
          </p:nvPr>
        </p:nvSpPr>
        <p:spPr bwMode="auto">
          <a:xfrm>
            <a:off x="954000" y="1890000"/>
            <a:ext cx="10279150" cy="36512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88755990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70139" y="2717600"/>
            <a:ext cx="10279150" cy="317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GB"/>
              <a:t>Fourth level</a:t>
            </a:r>
            <a:endParaRPr/>
          </a:p>
          <a:p>
            <a:pPr lvl="4">
              <a:defRPr/>
            </a:pPr>
            <a:r>
              <a:rPr lang="en-GB" b="1"/>
              <a:t>Fifth level</a:t>
            </a:r>
            <a:endParaRPr lang="en-GB"/>
          </a:p>
        </p:txBody>
      </p:sp>
      <p:sp>
        <p:nvSpPr>
          <p:cNvPr id="316562253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970139" y="775255"/>
            <a:ext cx="7176911" cy="230832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lvl1pPr algn="l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r>
              <a:rPr lang="en-GB"/>
              <a:t>PRESENTATION TITLE (ADD VIA INSERT, HEADER &amp; FOOTER)</a:t>
            </a:r>
            <a:endParaRPr/>
          </a:p>
        </p:txBody>
      </p:sp>
      <p:sp>
        <p:nvSpPr>
          <p:cNvPr id="502028858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9821333" y="783355"/>
            <a:ext cx="1400528" cy="2308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r">
              <a:defRPr sz="1500" b="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4D355CA-84B7-41B1-B164-8BB439CC7C6B}" type="slidenum">
              <a:rPr lang="en-GB"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1" hdr="0" sldNum="1"/>
  <p:txStyles>
    <p:titleStyle>
      <a:lvl1pPr algn="l" defTabSz="914400" rtl="0">
        <a:lnSpc>
          <a:spcPts val="3600"/>
        </a:lnSpc>
        <a:spcBef>
          <a:spcPts val="0"/>
        </a:spcBef>
        <a:buNone/>
        <a:defRPr sz="3600" b="1" spc="-100">
          <a:solidFill>
            <a:srgbClr val="20323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>
        <a:lnSpc>
          <a:spcPts val="2880"/>
        </a:lnSpc>
        <a:spcBef>
          <a:spcPts val="0"/>
        </a:spcBef>
        <a:spcAft>
          <a:spcPts val="992"/>
        </a:spcAft>
        <a:buFont typeface="Arial"/>
        <a:buNone/>
        <a:defRPr sz="2400" b="1" spc="-100">
          <a:solidFill>
            <a:srgbClr val="203232"/>
          </a:solidFill>
          <a:latin typeface="+mn-lt"/>
          <a:ea typeface="+mn-ea"/>
          <a:cs typeface="+mn-cs"/>
        </a:defRPr>
      </a:lvl1pPr>
      <a:lvl2pPr marL="0" indent="0" algn="l" defTabSz="914400" rtl="0">
        <a:lnSpc>
          <a:spcPts val="2880"/>
        </a:lnSpc>
        <a:spcBef>
          <a:spcPts val="0"/>
        </a:spcBef>
        <a:spcAft>
          <a:spcPts val="992"/>
        </a:spcAft>
        <a:buFont typeface="Arial"/>
        <a:buNone/>
        <a:defRPr sz="2400" spc="-100">
          <a:solidFill>
            <a:srgbClr val="203232"/>
          </a:solidFill>
          <a:latin typeface="+mn-lt"/>
          <a:ea typeface="+mn-ea"/>
          <a:cs typeface="+mn-cs"/>
        </a:defRPr>
      </a:lvl2pPr>
      <a:lvl3pPr marL="216000" indent="-216000" algn="l" defTabSz="914400" rtl="0">
        <a:lnSpc>
          <a:spcPts val="2880"/>
        </a:lnSpc>
        <a:spcBef>
          <a:spcPts val="0"/>
        </a:spcBef>
        <a:spcAft>
          <a:spcPts val="992"/>
        </a:spcAft>
        <a:buFont typeface="Arial"/>
        <a:buChar char="■"/>
        <a:defRPr sz="2400" spc="-100">
          <a:solidFill>
            <a:srgbClr val="203232"/>
          </a:solidFill>
          <a:latin typeface="+mn-lt"/>
          <a:ea typeface="+mn-ea"/>
          <a:cs typeface="+mn-cs"/>
        </a:defRPr>
      </a:lvl3pPr>
      <a:lvl4pPr marL="0" indent="0" algn="l" defTabSz="914400" rtl="0">
        <a:lnSpc>
          <a:spcPts val="2160"/>
        </a:lnSpc>
        <a:spcBef>
          <a:spcPts val="0"/>
        </a:spcBef>
        <a:buFont typeface="Arial"/>
        <a:buNone/>
        <a:defRPr sz="1800">
          <a:solidFill>
            <a:srgbClr val="203232"/>
          </a:solidFill>
          <a:latin typeface="+mn-lt"/>
          <a:ea typeface="+mn-ea"/>
          <a:cs typeface="+mn-cs"/>
        </a:defRPr>
      </a:lvl4pPr>
      <a:lvl5pPr marL="0" indent="0" algn="l" defTabSz="914400" rtl="0">
        <a:lnSpc>
          <a:spcPts val="2160"/>
        </a:lnSpc>
        <a:spcBef>
          <a:spcPts val="0"/>
        </a:spcBef>
        <a:buFont typeface="Arial"/>
        <a:buNone/>
        <a:defRPr sz="1800" b="1">
          <a:solidFill>
            <a:srgbClr val="203232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2580595" name="Title 1"/>
          <p:cNvSpPr>
            <a:spLocks noGrp="1"/>
          </p:cNvSpPr>
          <p:nvPr>
            <p:ph type="ctrTitle"/>
          </p:nvPr>
        </p:nvSpPr>
        <p:spPr bwMode="auto"/>
        <p:txBody>
          <a:bodyPr>
            <a:normAutofit fontScale="90000"/>
          </a:bodyPr>
          <a:lstStyle/>
          <a:p>
            <a:pPr>
              <a:defRPr/>
            </a:pPr>
            <a:r>
              <a:rPr lang="en-US"/>
              <a:t>Visualization and Analysis – </a:t>
            </a:r>
            <a:br>
              <a:rPr lang="en-US"/>
            </a:br>
            <a:r>
              <a:rPr lang="en-US" sz="4000"/>
              <a:t>Tutorial Presentation for Feedback</a:t>
            </a:r>
            <a:br>
              <a:rPr lang="en-US" sz="4000"/>
            </a:br>
            <a:r>
              <a:rPr lang="en-US" sz="2200"/>
              <a:t>Date: </a:t>
            </a:r>
            <a:br>
              <a:rPr lang="en-US" sz="8000"/>
            </a:br>
            <a:endParaRPr lang="en-US"/>
          </a:p>
        </p:txBody>
      </p:sp>
      <p:sp>
        <p:nvSpPr>
          <p:cNvPr id="1230640390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2000"/>
              <a:t>Group Id: </a:t>
            </a:r>
            <a:r>
              <a:rPr lang="en-GB" sz="2000"/>
              <a:t>A5</a:t>
            </a:r>
            <a:r>
              <a:rPr lang="en-US" sz="2000"/>
              <a:t>                                                          Name of Student Presenting:</a:t>
            </a:r>
            <a:r>
              <a:rPr lang="en-GB" sz="2000"/>
              <a:t>Moses</a:t>
            </a:r>
            <a:endParaRPr/>
          </a:p>
        </p:txBody>
      </p:sp>
      <p:sp>
        <p:nvSpPr>
          <p:cNvPr id="521504963" name="Footer Placeholder 3"/>
          <p:cNvSpPr>
            <a:spLocks noGrp="1"/>
          </p:cNvSpPr>
          <p:nvPr>
            <p:ph type="ftr" sz="quarter" idx="11"/>
          </p:nvPr>
        </p:nvSpPr>
        <p:spPr bwMode="auto">
          <a:xfrm>
            <a:off x="965289" y="274320"/>
            <a:ext cx="10455567" cy="736245"/>
          </a:xfrm>
        </p:spPr>
        <p:txBody>
          <a:bodyPr/>
          <a:lstStyle/>
          <a:p>
            <a:pPr>
              <a:defRPr/>
            </a:pPr>
            <a:r>
              <a:rPr lang="en-GB"/>
              <a:t>7COM1079-2025  Student Group No:A5                    Names of Student Attendees  (all group should attend to get feedback): </a:t>
            </a:r>
            <a:endParaRPr lang="en-GB"/>
          </a:p>
          <a:p>
            <a:pPr>
              <a:defRPr/>
            </a:pPr>
            <a:r>
              <a:rPr lang="en-GB"/>
              <a:t>					 </a:t>
            </a:r>
            <a:r>
              <a:rPr lang="en-US" sz="15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Allan Chumba</a:t>
            </a:r>
            <a:r>
              <a:rPr lang="en-GB"/>
              <a:t>, </a:t>
            </a:r>
            <a:r>
              <a:rPr lang="en-GB" sz="15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Isaac Kechem, </a:t>
            </a:r>
            <a:r>
              <a:rPr lang="en-GB" sz="15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James Boro Kabecha</a:t>
            </a:r>
            <a:r>
              <a:rPr lang="en-GB" sz="15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, </a:t>
            </a:r>
            <a:r>
              <a:rPr lang="en-GB" sz="15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John Gathogo</a:t>
            </a:r>
            <a:r>
              <a:rPr lang="en-GB" sz="15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, </a:t>
            </a:r>
            <a:r>
              <a:rPr lang="en-GB" sz="15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					Moses Musoga</a:t>
            </a:r>
            <a:endParaRPr lang="en-GB" sz="1500" b="0" i="0" u="none" strike="noStrike" cap="none" spc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172625459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E4D355CA-84B7-41B1-B164-8BB439CC7C6B}" type="slidenum">
              <a:rPr lang="en-GB"/>
              <a:t>3</a:t>
            </a:fld>
            <a:endParaRPr lang="en-GB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0622100" name="Subtitle 1"/>
          <p:cNvSpPr>
            <a:spLocks noGrp="1"/>
          </p:cNvSpPr>
          <p:nvPr>
            <p:ph type="subTitle" idx="1"/>
          </p:nvPr>
        </p:nvSpPr>
        <p:spPr bwMode="auto">
          <a:xfrm>
            <a:off x="942200" y="1355610"/>
            <a:ext cx="7200000" cy="360000"/>
          </a:xfrm>
        </p:spPr>
        <p:txBody>
          <a:bodyPr/>
          <a:lstStyle/>
          <a:p>
            <a:pPr>
              <a:defRPr/>
            </a:pPr>
            <a:r>
              <a:rPr lang="en-US"/>
              <a:t>Part 1: VISUALISATION</a:t>
            </a:r>
            <a:endParaRPr lang="en-GB"/>
          </a:p>
        </p:txBody>
      </p:sp>
      <p:sp>
        <p:nvSpPr>
          <p:cNvPr id="44140499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PRESENTATION TITLE (ADD VIA INSERT, HEADER &amp; FOOTER)</a:t>
            </a:r>
            <a:endParaRPr/>
          </a:p>
        </p:txBody>
      </p:sp>
      <p:sp>
        <p:nvSpPr>
          <p:cNvPr id="1799198642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E4D355CA-84B7-41B1-B164-8BB439CC7C6B}" type="slidenum">
              <a:rPr lang="en-GB"/>
              <a:t>4</a:t>
            </a:fld>
            <a:endParaRPr lang="en-GB"/>
          </a:p>
        </p:txBody>
      </p:sp>
      <p:sp>
        <p:nvSpPr>
          <p:cNvPr id="1497241931" name="Title 1"/>
          <p:cNvSpPr>
            <a:spLocks noGrp="1"/>
          </p:cNvSpPr>
          <p:nvPr>
            <p:ph type="ctrTitle" hasCustomPrompt="1"/>
          </p:nvPr>
        </p:nvSpPr>
        <p:spPr bwMode="auto">
          <a:xfrm>
            <a:off x="953998" y="2579715"/>
            <a:ext cx="10031157" cy="2160000"/>
          </a:xfrm>
        </p:spPr>
        <p:txBody>
          <a:bodyPr anchor="t" anchorCtr="0">
            <a:normAutofit/>
          </a:bodyPr>
          <a:lstStyle>
            <a:lvl1pPr algn="l">
              <a:lnSpc>
                <a:spcPts val="7999"/>
              </a:lnSpc>
              <a:defRPr sz="7500" b="1" spc="-199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9469818" name="Subtitle 1"/>
          <p:cNvSpPr>
            <a:spLocks noGrp="1"/>
          </p:cNvSpPr>
          <p:nvPr>
            <p:ph type="subTitle" idx="1"/>
          </p:nvPr>
        </p:nvSpPr>
        <p:spPr bwMode="auto">
          <a:xfrm>
            <a:off x="965288" y="1080637"/>
            <a:ext cx="10110240" cy="588024"/>
          </a:xfrm>
        </p:spPr>
        <p:txBody>
          <a:bodyPr/>
          <a:lstStyle/>
          <a:p>
            <a:pPr>
              <a:defRPr/>
            </a:pPr>
            <a:r>
              <a:rPr lang="en-US" sz="2400" b="0">
                <a:latin typeface="Calibri"/>
                <a:cs typeface="Calibri"/>
              </a:rPr>
              <a:t>We are using the dataset</a:t>
            </a:r>
            <a:r>
              <a:rPr lang="en-US" sz="2400" b="0">
                <a:solidFill>
                  <a:srgbClr val="FF0000"/>
                </a:solidFill>
                <a:latin typeface="Calibri"/>
                <a:cs typeface="Calibri"/>
              </a:rPr>
              <a:t>   </a:t>
            </a:r>
            <a:r>
              <a:rPr lang="en-US" sz="2400" b="0" i="0" u="none" strike="noStrike" cap="none" spc="-99">
                <a:solidFill>
                  <a:srgbClr val="FF0000"/>
                </a:solidFill>
                <a:latin typeface="Calibri"/>
                <a:ea typeface="Calibri"/>
                <a:cs typeface="Calibri"/>
              </a:rPr>
              <a:t>ds256</a:t>
            </a:r>
            <a:r>
              <a:rPr lang="en-GB" sz="2400" b="0">
                <a:solidFill>
                  <a:srgbClr val="FF0000"/>
                </a:solidFill>
                <a:latin typeface="Calibri"/>
                <a:cs typeface="Calibri"/>
              </a:rPr>
              <a:t> loan_data.csv </a:t>
            </a:r>
            <a:r>
              <a:rPr lang="en-GB" sz="2400" b="0">
                <a:solidFill>
                  <a:schemeClr val="tx1"/>
                </a:solidFill>
                <a:latin typeface="Calibri"/>
                <a:cs typeface="Calibri"/>
              </a:rPr>
              <a:t>to </a:t>
            </a:r>
            <a:r>
              <a:rPr lang="en-US" sz="2400" b="0">
                <a:solidFill>
                  <a:schemeClr val="tx1"/>
                </a:solidFill>
                <a:latin typeface="Calibri"/>
                <a:cs typeface="Calibri"/>
              </a:rPr>
              <a:t>answer our Research Question </a:t>
            </a:r>
            <a:endParaRPr lang="en-US" sz="2400" b="0">
              <a:solidFill>
                <a:schemeClr val="tx1"/>
              </a:solidFill>
              <a:latin typeface="Calibri"/>
              <a:cs typeface="Calibri"/>
            </a:endParaRPr>
          </a:p>
          <a:p>
            <a:pPr>
              <a:defRPr/>
            </a:pPr>
            <a:r>
              <a:rPr lang="en-US" sz="2400" b="0">
                <a:solidFill>
                  <a:schemeClr val="tx1"/>
                </a:solidFill>
                <a:latin typeface="Calibri"/>
                <a:cs typeface="Calibri"/>
              </a:rPr>
              <a:t> </a:t>
            </a:r>
            <a:r>
              <a:rPr lang="en-US" sz="2400" b="0">
                <a:solidFill>
                  <a:srgbClr val="FF0000"/>
                </a:solidFill>
                <a:latin typeface="Calibri"/>
                <a:cs typeface="Calibri"/>
              </a:rPr>
              <a:t>“ </a:t>
            </a:r>
            <a:r>
              <a:rPr lang="en-US" sz="2400" b="0" i="0" u="none" strike="noStrike" cap="none" spc="-99">
                <a:solidFill>
                  <a:srgbClr val="FF0000"/>
                </a:solidFill>
                <a:latin typeface="Calibri"/>
                <a:ea typeface="Calibri"/>
                <a:cs typeface="Calibri"/>
              </a:rPr>
              <a:t>Is there a correlation between loan amount and personal income for applicants?</a:t>
            </a:r>
            <a:r>
              <a:rPr lang="en-US" sz="2400" b="0">
                <a:solidFill>
                  <a:srgbClr val="FF0000"/>
                </a:solidFill>
                <a:latin typeface="Calibri"/>
                <a:cs typeface="Calibri"/>
              </a:rPr>
              <a:t>”</a:t>
            </a:r>
            <a:r>
              <a:rPr lang="en-US" sz="2400" b="0">
                <a:solidFill>
                  <a:schemeClr val="tx1"/>
                </a:solidFill>
                <a:latin typeface="Calibri"/>
                <a:cs typeface="Calibri"/>
              </a:rPr>
              <a:t> </a:t>
            </a:r>
            <a:r>
              <a:rPr lang="en-US" sz="2400" baseline="30000">
                <a:solidFill>
                  <a:schemeClr val="tx1"/>
                </a:solidFill>
                <a:latin typeface="Calibri"/>
                <a:cs typeface="Calibri"/>
              </a:rPr>
              <a:t>1</a:t>
            </a:r>
            <a:endParaRPr/>
          </a:p>
          <a:p>
            <a:pPr>
              <a:defRPr/>
            </a:pPr>
            <a:br>
              <a:rPr lang="en-US" sz="2400" b="0">
                <a:solidFill>
                  <a:srgbClr val="FF0000"/>
                </a:solidFill>
                <a:latin typeface="Calibri"/>
                <a:cs typeface="Calibri"/>
              </a:rPr>
            </a:br>
            <a:endParaRPr lang="en-US" sz="2400">
              <a:solidFill>
                <a:schemeClr val="tx1"/>
              </a:solidFill>
              <a:latin typeface="Calibri"/>
              <a:cs typeface="Calibri"/>
            </a:endParaRPr>
          </a:p>
        </p:txBody>
      </p:sp>
      <p:sp>
        <p:nvSpPr>
          <p:cNvPr id="1943903583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E4D355CA-84B7-41B1-B164-8BB439CC7C6B}" type="slidenum">
              <a:rPr lang="en-GB"/>
              <a:t>5</a:t>
            </a:fld>
            <a:endParaRPr lang="en-GB"/>
          </a:p>
        </p:txBody>
      </p:sp>
      <p:sp>
        <p:nvSpPr>
          <p:cNvPr id="2126636132" name="TextBox 16"/>
          <p:cNvSpPr txBox="1"/>
          <p:nvPr/>
        </p:nvSpPr>
        <p:spPr bwMode="auto">
          <a:xfrm flipH="0" flipV="0">
            <a:off x="872973" y="1854018"/>
            <a:ext cx="9981279" cy="823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GB" sz="2400">
                <a:solidFill>
                  <a:srgbClr val="FF0000"/>
                </a:solidFill>
              </a:rPr>
              <a:t>the dataset has 45,000 rows and the variables we use are </a:t>
            </a:r>
            <a:r>
              <a:rPr lang="en-GB" sz="2400" b="1" i="0" u="none" strike="noStrike" cap="none" spc="0">
                <a:solidFill>
                  <a:srgbClr val="FF0000"/>
                </a:solidFill>
                <a:latin typeface="Arial"/>
                <a:ea typeface="Arial"/>
                <a:cs typeface="Arial"/>
              </a:rPr>
              <a:t>loan_amnt</a:t>
            </a:r>
            <a:r>
              <a:rPr lang="en-GB" sz="2400" b="1">
                <a:solidFill>
                  <a:srgbClr val="FF0000"/>
                </a:solidFill>
              </a:rPr>
              <a:t> </a:t>
            </a:r>
            <a:r>
              <a:rPr lang="en-GB" sz="2400">
                <a:solidFill>
                  <a:srgbClr val="FF0000"/>
                </a:solidFill>
              </a:rPr>
              <a:t>(dependent variable</a:t>
            </a:r>
            <a:r>
              <a:rPr lang="en-GB" sz="2400" baseline="30000">
                <a:solidFill>
                  <a:srgbClr val="FF0000"/>
                </a:solidFill>
              </a:rPr>
              <a:t>3</a:t>
            </a:r>
            <a:r>
              <a:rPr lang="en-GB" sz="2400">
                <a:solidFill>
                  <a:srgbClr val="FF0000"/>
                </a:solidFill>
              </a:rPr>
              <a:t>) and </a:t>
            </a:r>
            <a:r>
              <a:rPr lang="en-GB" sz="2400" b="1" i="0" u="none" strike="noStrike" cap="none" spc="0">
                <a:solidFill>
                  <a:srgbClr val="FF0000"/>
                </a:solidFill>
                <a:latin typeface="Arial"/>
                <a:ea typeface="Arial"/>
                <a:cs typeface="Arial"/>
              </a:rPr>
              <a:t>person_income</a:t>
            </a:r>
            <a:r>
              <a:rPr lang="en-GB" sz="2400">
                <a:solidFill>
                  <a:srgbClr val="FF0000"/>
                </a:solidFill>
              </a:rPr>
              <a:t> (independent variable</a:t>
            </a:r>
            <a:r>
              <a:rPr lang="en-GB" sz="2400" baseline="30000">
                <a:solidFill>
                  <a:srgbClr val="FF0000"/>
                </a:solidFill>
              </a:rPr>
              <a:t>4</a:t>
            </a:r>
            <a:r>
              <a:rPr lang="en-GB" sz="2400">
                <a:solidFill>
                  <a:srgbClr val="FF0000"/>
                </a:solidFill>
              </a:rPr>
              <a:t>).</a:t>
            </a:r>
            <a:endParaRPr/>
          </a:p>
        </p:txBody>
      </p:sp>
      <p:pic>
        <p:nvPicPr>
          <p:cNvPr id="329122505" name="Ink 25"/>
          <p:cNvPicPr/>
          <p:nvPr/>
        </p:nvPicPr>
        <p:blipFill rotWithShape="1">
          <a:blip r:embed="rId3"/>
          <a:stretch/>
        </p:blipFill>
        <p:spPr bwMode="auto">
          <a:xfrm>
            <a:off x="11530041" y="2687494"/>
            <a:ext cx="36000" cy="36000"/>
          </a:xfrm>
          <a:prstGeom prst="rect">
            <a:avLst/>
          </a:prstGeom>
        </p:spPr>
      </p:pic>
      <p:cxnSp>
        <p:nvCxnSpPr>
          <p:cNvPr id="1203848120" name="Straight Arrow Connector 29"/>
          <p:cNvCxnSpPr/>
          <p:nvPr/>
        </p:nvCxnSpPr>
        <p:spPr bwMode="auto">
          <a:xfrm>
            <a:off x="5268160" y="3958225"/>
            <a:ext cx="631599" cy="0"/>
          </a:xfrm>
          <a:prstGeom prst="straightConnector1">
            <a:avLst/>
          </a:prstGeom>
          <a:ln w="3810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tx1"/>
          </a:fontRef>
        </p:style>
      </p:cxnSp>
      <p:pic>
        <p:nvPicPr>
          <p:cNvPr id="927396487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67432" y="2677339"/>
            <a:ext cx="11153774" cy="30289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5381374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0616399" y="791021"/>
            <a:ext cx="622800" cy="230832"/>
          </a:xfrm>
        </p:spPr>
        <p:txBody>
          <a:bodyPr/>
          <a:lstStyle>
            <a:lvl1pPr>
              <a:defRPr>
                <a:solidFill>
                  <a:srgbClr val="8F9898"/>
                </a:solidFill>
              </a:defRPr>
            </a:lvl1pPr>
          </a:lstStyle>
          <a:p>
            <a:pPr>
              <a:defRPr/>
            </a:pPr>
            <a:fld id="{1B678747-91CA-5540-8200-ED98C1E477D9}" type="slidenum">
              <a:rPr lang="en-GB"/>
              <a:t/>
            </a:fld>
            <a:endParaRPr lang="en-GB"/>
          </a:p>
        </p:txBody>
      </p:sp>
      <p:pic>
        <p:nvPicPr>
          <p:cNvPr id="177329261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086520" y="129075"/>
            <a:ext cx="8025037" cy="531767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0636817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0616399" y="791021"/>
            <a:ext cx="622800" cy="230832"/>
          </a:xfrm>
        </p:spPr>
        <p:txBody>
          <a:bodyPr/>
          <a:lstStyle>
            <a:lvl1pPr>
              <a:defRPr>
                <a:solidFill>
                  <a:srgbClr val="8F9898"/>
                </a:solidFill>
              </a:defRPr>
            </a:lvl1pPr>
          </a:lstStyle>
          <a:p>
            <a:pPr>
              <a:defRPr/>
            </a:pPr>
            <a:fld id="{742A4E25-18C6-5EE1-9FA6-E574CCDCAF25}" type="slidenum">
              <a:rPr lang="en-GB"/>
              <a:t/>
            </a:fld>
            <a:endParaRPr lang="en-GB"/>
          </a:p>
        </p:txBody>
      </p:sp>
      <p:pic>
        <p:nvPicPr>
          <p:cNvPr id="49580988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185558" y="111210"/>
            <a:ext cx="7990616" cy="529486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8978226" name="Subtitle 1"/>
          <p:cNvSpPr>
            <a:spLocks noGrp="1"/>
          </p:cNvSpPr>
          <p:nvPr>
            <p:ph type="subTitle" idx="1"/>
          </p:nvPr>
        </p:nvSpPr>
        <p:spPr bwMode="auto">
          <a:xfrm>
            <a:off x="954000" y="1698171"/>
            <a:ext cx="10285200" cy="551829"/>
          </a:xfrm>
        </p:spPr>
        <p:txBody>
          <a:bodyPr/>
          <a:lstStyle/>
          <a:p>
            <a:pPr>
              <a:defRPr/>
            </a:pPr>
            <a:r>
              <a:rPr lang="en-US"/>
              <a:t>Part 2: Analysis (building on your Visualizations)</a:t>
            </a:r>
            <a:endParaRPr lang="en-GB"/>
          </a:p>
        </p:txBody>
      </p:sp>
      <p:sp>
        <p:nvSpPr>
          <p:cNvPr id="980822272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PRESENTATION TITLE (ADD VIA INSERT, HEADER &amp; FOOTER)</a:t>
            </a:r>
            <a:endParaRPr/>
          </a:p>
        </p:txBody>
      </p:sp>
      <p:sp>
        <p:nvSpPr>
          <p:cNvPr id="1707153681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E4D355CA-84B7-41B1-B164-8BB439CC7C6B}" type="slidenum">
              <a:rPr lang="en-GB"/>
              <a:t>9</a:t>
            </a:fld>
            <a:endParaRPr lang="en-GB"/>
          </a:p>
        </p:txBody>
      </p:sp>
      <p:sp>
        <p:nvSpPr>
          <p:cNvPr id="1998352062" name="Title 4"/>
          <p:cNvSpPr>
            <a:spLocks noGrp="1"/>
          </p:cNvSpPr>
          <p:nvPr>
            <p:ph type="ctrTitle"/>
          </p:nvPr>
        </p:nvSpPr>
        <p:spPr bwMode="auto"/>
        <p:txBody>
          <a:bodyPr>
            <a:normAutofit/>
          </a:bodyPr>
          <a:lstStyle/>
          <a:p>
            <a:pPr>
              <a:lnSpc>
                <a:spcPts val="4000"/>
              </a:lnSpc>
              <a:defRPr/>
            </a:pPr>
            <a:r>
              <a:rPr lang="en-US" sz="3600">
                <a:solidFill>
                  <a:srgbClr val="FF0000"/>
                </a:solidFill>
              </a:rPr>
              <a:t>Only attempt this Analysis part of the demo if you have completed your Visualization(s). Otherwise end your demo after the Visualization for feedback.</a:t>
            </a:r>
            <a:endParaRPr lang="en-GB" sz="3600">
              <a:solidFill>
                <a:srgbClr val="FF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5699134" name="CustomShape 1"/>
          <p:cNvSpPr/>
          <p:nvPr/>
        </p:nvSpPr>
        <p:spPr bwMode="auto">
          <a:xfrm>
            <a:off x="0" y="0"/>
            <a:ext cx="12191760" cy="6857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353779526" name="CustomShape 2"/>
          <p:cNvSpPr/>
          <p:nvPr/>
        </p:nvSpPr>
        <p:spPr bwMode="auto">
          <a:xfrm rot="10800000" flipH="1">
            <a:off x="360" y="360"/>
            <a:ext cx="12191760" cy="1575720"/>
          </a:xfrm>
          <a:prstGeom prst="rect">
            <a:avLst/>
          </a:prstGeom>
          <a:gradFill rotWithShape="0">
            <a:gsLst>
              <a:gs pos="0">
                <a:srgbClr val="000000">
                  <a:alpha val="96078"/>
                </a:srgbClr>
              </a:gs>
              <a:gs pos="100000">
                <a:srgbClr val="77418E"/>
              </a:gs>
            </a:gsLst>
            <a:lin ang="156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423050359" name="CustomShape 3"/>
          <p:cNvSpPr/>
          <p:nvPr/>
        </p:nvSpPr>
        <p:spPr bwMode="auto">
          <a:xfrm>
            <a:off x="0" y="0"/>
            <a:ext cx="8128440" cy="1575000"/>
          </a:xfrm>
          <a:prstGeom prst="rect">
            <a:avLst/>
          </a:prstGeom>
          <a:gradFill rotWithShape="0">
            <a:gsLst>
              <a:gs pos="26000">
                <a:srgbClr val="C49FD3">
                  <a:alpha val="0"/>
                </a:srgbClr>
              </a:gs>
              <a:gs pos="100000">
                <a:srgbClr val="9C5FB5">
                  <a:alpha val="41176"/>
                </a:srgbClr>
              </a:gs>
            </a:gsLst>
            <a:lin ang="192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846940275" name="CustomShape 4"/>
          <p:cNvSpPr/>
          <p:nvPr/>
        </p:nvSpPr>
        <p:spPr bwMode="auto">
          <a:xfrm flipH="1">
            <a:off x="0" y="0"/>
            <a:ext cx="12191760" cy="1573920"/>
          </a:xfrm>
          <a:prstGeom prst="rect">
            <a:avLst/>
          </a:prstGeom>
          <a:gradFill rotWithShape="0">
            <a:gsLst>
              <a:gs pos="22000">
                <a:srgbClr val="9C5FB5">
                  <a:alpha val="15294"/>
                </a:srgbClr>
              </a:gs>
              <a:gs pos="100000">
                <a:srgbClr val="000000">
                  <a:alpha val="63137"/>
                </a:srgbClr>
              </a:gs>
            </a:gsLst>
            <a:lin ang="60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712362951" name="TextShape 5"/>
          <p:cNvSpPr txBox="1"/>
          <p:nvPr/>
        </p:nvSpPr>
        <p:spPr bwMode="auto">
          <a:xfrm>
            <a:off x="290880" y="158400"/>
            <a:ext cx="7063200" cy="1158840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sz="2400" b="0" strike="noStrike" spc="-201">
                <a:solidFill>
                  <a:srgbClr val="FFFFFF"/>
                </a:solidFill>
                <a:latin typeface="Arial"/>
              </a:rPr>
              <a:t> </a:t>
            </a:r>
            <a:br>
              <a:rPr/>
            </a:br>
            <a:br>
              <a:rPr/>
            </a:br>
            <a:endParaRPr lang="en-US" sz="2400" b="0" strike="noStrike" spc="-1">
              <a:solidFill>
                <a:srgbClr val="203232"/>
              </a:solidFill>
              <a:latin typeface="Arial"/>
            </a:endParaRPr>
          </a:p>
        </p:txBody>
      </p:sp>
      <p:sp>
        <p:nvSpPr>
          <p:cNvPr id="862273653" name="TextShape 6"/>
          <p:cNvSpPr txBox="1"/>
          <p:nvPr/>
        </p:nvSpPr>
        <p:spPr bwMode="auto">
          <a:xfrm>
            <a:off x="8217720" y="343800"/>
            <a:ext cx="3386160" cy="115884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>
              <a:lnSpc>
                <a:spcPts val="2880"/>
              </a:lnSpc>
              <a:spcAft>
                <a:spcPts val="992"/>
              </a:spcAft>
              <a:tabLst>
                <a:tab pos="0" algn="l"/>
              </a:tabLst>
              <a:defRPr/>
            </a:pPr>
            <a:r>
              <a:rPr lang="en-GB" sz="3200" b="0" strike="noStrike" spc="-100">
                <a:solidFill>
                  <a:srgbClr val="FFFFFF"/>
                </a:solidFill>
                <a:latin typeface="Arial"/>
              </a:rPr>
              <a:t>Our RQ asks about Correlation</a:t>
            </a:r>
            <a:endParaRPr lang="en-US" sz="3200" b="0" strike="noStrike" spc="-1">
              <a:latin typeface="Arial"/>
            </a:endParaRPr>
          </a:p>
        </p:txBody>
      </p:sp>
      <p:sp>
        <p:nvSpPr>
          <p:cNvPr id="841058648" name="TextShape 7"/>
          <p:cNvSpPr txBox="1"/>
          <p:nvPr/>
        </p:nvSpPr>
        <p:spPr bwMode="auto">
          <a:xfrm>
            <a:off x="11704320" y="6455520"/>
            <a:ext cx="44784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/>
          </a:bodyPr>
          <a:lstStyle/>
          <a:p>
            <a:pPr algn="r">
              <a:lnSpc>
                <a:spcPct val="100000"/>
              </a:lnSpc>
              <a:spcAft>
                <a:spcPts val="601"/>
              </a:spcAft>
              <a:defRPr/>
            </a:pPr>
            <a:fld id="{3AD1EC97-2E3A-4B5A-93B5-9F892C3DC423}" type="slidenum">
              <a:rPr lang="en-US" sz="1100" b="1" strike="noStrike" spc="-1">
                <a:solidFill>
                  <a:srgbClr val="7DABAB"/>
                </a:solidFill>
                <a:latin typeface="Arial"/>
              </a:rPr>
              <a:t>10</a:t>
            </a:fld>
            <a:endParaRPr lang="en-US" sz="1100" b="0" strike="noStrike" spc="-1">
              <a:latin typeface="Times New Roman"/>
            </a:endParaRPr>
          </a:p>
        </p:txBody>
      </p:sp>
      <p:sp>
        <p:nvSpPr>
          <p:cNvPr id="2143593147" name="CustomShape 8"/>
          <p:cNvSpPr/>
          <p:nvPr/>
        </p:nvSpPr>
        <p:spPr bwMode="auto">
          <a:xfrm>
            <a:off x="366120" y="197640"/>
            <a:ext cx="6988320" cy="1187640"/>
          </a:xfrm>
          <a:prstGeom prst="rect">
            <a:avLst/>
          </a:prstGeom>
          <a:noFill/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  <a:defRPr/>
            </a:pPr>
            <a:r>
              <a:rPr lang="en-GB" sz="2400" b="0" strike="noStrike" spc="-1">
                <a:solidFill>
                  <a:srgbClr val="FFFFFF"/>
                </a:solidFill>
                <a:latin typeface="Arial"/>
              </a:rPr>
              <a:t>Here is a </a:t>
            </a:r>
            <a:r>
              <a:rPr lang="en-GB" sz="2400" b="1" strike="noStrike" spc="-1">
                <a:solidFill>
                  <a:srgbClr val="FFFFFF"/>
                </a:solidFill>
                <a:latin typeface="Arial"/>
              </a:rPr>
              <a:t>Histogram </a:t>
            </a:r>
            <a:r>
              <a:rPr lang="en-GB" sz="2400" b="0" strike="noStrike" spc="-1">
                <a:solidFill>
                  <a:srgbClr val="FFFFFF"/>
                </a:solidFill>
                <a:latin typeface="Arial"/>
              </a:rPr>
              <a:t>showing the frequencies of our dependent variable to include the normal curve overlay</a:t>
            </a:r>
            <a:r>
              <a:rPr lang="en-GB" sz="1800" b="0" strike="noStrike" spc="-1">
                <a:solidFill>
                  <a:srgbClr val="203232"/>
                </a:solidFill>
                <a:latin typeface="Arial"/>
              </a:rPr>
              <a:t>.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994397926" name="CustomShape 9"/>
          <p:cNvSpPr/>
          <p:nvPr/>
        </p:nvSpPr>
        <p:spPr bwMode="auto">
          <a:xfrm>
            <a:off x="182880" y="1645920"/>
            <a:ext cx="11722680" cy="5046840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Arial"/>
              </a:rPr>
              <a:t>For example:</a:t>
            </a:r>
            <a:endParaRPr lang="en-US" sz="1800" b="0" strike="noStrike" spc="-1">
              <a:latin typeface="Arial"/>
            </a:endParaRPr>
          </a:p>
          <a:p>
            <a:pPr>
              <a:lnSpc>
                <a:spcPct val="100000"/>
              </a:lnSpc>
              <a:defRPr/>
            </a:pPr>
            <a:endParaRPr lang="en-US" sz="1800" b="0" strike="noStrike" spc="-1">
              <a:latin typeface="Arial"/>
            </a:endParaRPr>
          </a:p>
          <a:p>
            <a:pPr>
              <a:lnSpc>
                <a:spcPct val="100000"/>
              </a:lnSpc>
              <a:defRPr/>
            </a:pPr>
            <a:endParaRPr lang="en-US" sz="1800" b="0" strike="noStrike" spc="-1">
              <a:latin typeface="Arial"/>
            </a:endParaRPr>
          </a:p>
          <a:p>
            <a:pPr>
              <a:lnSpc>
                <a:spcPct val="100000"/>
              </a:lnSpc>
              <a:defRPr/>
            </a:pPr>
            <a:endParaRPr lang="en-US" sz="1800" b="0" strike="noStrike" spc="-1">
              <a:latin typeface="Arial"/>
            </a:endParaRPr>
          </a:p>
          <a:p>
            <a:pPr>
              <a:lnSpc>
                <a:spcPct val="100000"/>
              </a:lnSpc>
              <a:defRPr/>
            </a:pPr>
            <a:endParaRPr lang="en-US" sz="1800" b="0" strike="noStrike" spc="-1">
              <a:latin typeface="Arial"/>
            </a:endParaRPr>
          </a:p>
          <a:p>
            <a:pPr>
              <a:lnSpc>
                <a:spcPct val="100000"/>
              </a:lnSpc>
              <a:defRPr/>
            </a:pPr>
            <a:endParaRPr lang="en-US" sz="1800" b="0" strike="noStrike" spc="-1">
              <a:latin typeface="Arial"/>
            </a:endParaRPr>
          </a:p>
          <a:p>
            <a:pPr>
              <a:lnSpc>
                <a:spcPct val="100000"/>
              </a:lnSpc>
              <a:defRPr/>
            </a:pPr>
            <a:endParaRPr lang="en-US" sz="1800" b="0" strike="noStrike" spc="-1">
              <a:latin typeface="Arial"/>
            </a:endParaRPr>
          </a:p>
          <a:p>
            <a:pPr>
              <a:lnSpc>
                <a:spcPct val="100000"/>
              </a:lnSpc>
              <a:defRPr/>
            </a:pPr>
            <a:endParaRPr lang="en-US" sz="1800" b="0" strike="noStrike" spc="-1">
              <a:latin typeface="Arial"/>
            </a:endParaRPr>
          </a:p>
          <a:p>
            <a:pPr>
              <a:lnSpc>
                <a:spcPct val="100000"/>
              </a:lnSpc>
              <a:defRPr/>
            </a:pPr>
            <a:endParaRPr lang="en-US" sz="1800" b="0" strike="noStrike" spc="-1">
              <a:latin typeface="Arial"/>
            </a:endParaRPr>
          </a:p>
          <a:p>
            <a:pPr>
              <a:lnSpc>
                <a:spcPct val="100000"/>
              </a:lnSpc>
              <a:defRPr/>
            </a:pPr>
            <a:endParaRPr lang="en-US" sz="1800" b="0" strike="noStrike" spc="-1">
              <a:latin typeface="Arial"/>
            </a:endParaRPr>
          </a:p>
          <a:p>
            <a:pPr>
              <a:lnSpc>
                <a:spcPct val="100000"/>
              </a:lnSpc>
              <a:defRPr/>
            </a:pPr>
            <a:endParaRPr lang="en-US" sz="1800" b="0" strike="noStrike" spc="-1">
              <a:latin typeface="Arial"/>
            </a:endParaRPr>
          </a:p>
          <a:p>
            <a:pPr>
              <a:lnSpc>
                <a:spcPct val="100000"/>
              </a:lnSpc>
              <a:defRPr/>
            </a:pPr>
            <a:endParaRPr lang="en-US" sz="1800" b="0" strike="noStrike" spc="-1">
              <a:latin typeface="Arial"/>
            </a:endParaRPr>
          </a:p>
          <a:p>
            <a:pPr>
              <a:lnSpc>
                <a:spcPct val="100000"/>
              </a:lnSpc>
              <a:defRPr/>
            </a:pPr>
            <a:endParaRPr lang="en-US" sz="1800" b="0" strike="noStrike" spc="-1">
              <a:latin typeface="Arial"/>
            </a:endParaRPr>
          </a:p>
          <a:p>
            <a:pPr>
              <a:lnSpc>
                <a:spcPct val="100000"/>
              </a:lnSpc>
              <a:defRPr/>
            </a:pPr>
            <a:endParaRPr lang="en-US" sz="1800" b="0" strike="noStrike" spc="-1">
              <a:latin typeface="Arial"/>
            </a:endParaRPr>
          </a:p>
          <a:p>
            <a:pPr>
              <a:lnSpc>
                <a:spcPct val="100000"/>
              </a:lnSpc>
              <a:defRPr/>
            </a:pPr>
            <a:endParaRPr lang="en-US" sz="1800" b="0" strike="noStrike" spc="-1">
              <a:latin typeface="Arial"/>
            </a:endParaRPr>
          </a:p>
          <a:p>
            <a:pPr>
              <a:lnSpc>
                <a:spcPct val="100000"/>
              </a:lnSpc>
              <a:defRPr/>
            </a:pPr>
            <a:endParaRPr lang="en-US" sz="1800" b="0" strike="noStrike" spc="-1">
              <a:latin typeface="Arial"/>
            </a:endParaRPr>
          </a:p>
        </p:txBody>
      </p:sp>
      <p:sp>
        <p:nvSpPr>
          <p:cNvPr id="1026582922" name="CustomShape 10"/>
          <p:cNvSpPr/>
          <p:nvPr/>
        </p:nvSpPr>
        <p:spPr bwMode="auto">
          <a:xfrm>
            <a:off x="6412680" y="2012759"/>
            <a:ext cx="5057640" cy="4205160"/>
          </a:xfrm>
          <a:prstGeom prst="rect">
            <a:avLst/>
          </a:prstGeom>
          <a:noFill/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  <a:defRPr/>
            </a:pPr>
            <a:r>
              <a:rPr lang="en-GB" sz="1800" b="0" strike="noStrike" spc="-1">
                <a:solidFill>
                  <a:srgbClr val="203232"/>
                </a:solidFill>
                <a:latin typeface="Arial"/>
              </a:rPr>
              <a:t>Choose one:</a:t>
            </a:r>
            <a:endParaRPr lang="en-US" sz="1800" b="0" strike="noStrike" spc="-1">
              <a:latin typeface="Arial"/>
            </a:endParaRPr>
          </a:p>
          <a:p>
            <a:pPr>
              <a:lnSpc>
                <a:spcPct val="100000"/>
              </a:lnSpc>
              <a:defRPr/>
            </a:pPr>
            <a:r>
              <a:rPr lang="en-GB" sz="1800" b="0" strike="noStrike" spc="-1">
                <a:solidFill>
                  <a:srgbClr val="203232"/>
                </a:solidFill>
                <a:latin typeface="Arial"/>
              </a:rPr>
              <a:t>1. The blue normal curve overlay follows the contours of the underlying data, so for our analysis we will use a parametric test for correlation:  </a:t>
            </a:r>
            <a:r>
              <a:rPr lang="en-GB" sz="1800" b="0" strike="noStrike" spc="-1">
                <a:solidFill>
                  <a:srgbClr val="0073CF"/>
                </a:solidFill>
                <a:latin typeface="Arial"/>
              </a:rPr>
              <a:t>Pearson’s r</a:t>
            </a:r>
            <a:endParaRPr lang="en-US" sz="1800" b="0" strike="noStrike" spc="-1">
              <a:latin typeface="Arial"/>
            </a:endParaRPr>
          </a:p>
          <a:p>
            <a:pPr>
              <a:lnSpc>
                <a:spcPct val="100000"/>
              </a:lnSpc>
              <a:defRPr/>
            </a:pPr>
            <a:r>
              <a:rPr lang="en-GB" sz="1800" b="0" strike="noStrike" spc="-1">
                <a:solidFill>
                  <a:srgbClr val="0073CF"/>
                </a:solidFill>
                <a:latin typeface="Arial"/>
              </a:rPr>
              <a:t>OR</a:t>
            </a:r>
            <a:endParaRPr lang="en-US" sz="1800" b="0" strike="noStrike" spc="-1">
              <a:latin typeface="Arial"/>
            </a:endParaRPr>
          </a:p>
          <a:p>
            <a:pPr>
              <a:lnSpc>
                <a:spcPct val="100000"/>
              </a:lnSpc>
              <a:defRPr/>
            </a:pPr>
            <a:r>
              <a:rPr lang="en-GB" sz="1800" b="0" strike="noStrike" spc="-1">
                <a:solidFill>
                  <a:srgbClr val="203232"/>
                </a:solidFill>
                <a:latin typeface="Arial"/>
              </a:rPr>
              <a:t>The normal curve overlay </a:t>
            </a:r>
            <a:r>
              <a:rPr lang="en-GB" sz="1800" b="1" strike="noStrike" spc="-1">
                <a:solidFill>
                  <a:srgbClr val="203232"/>
                </a:solidFill>
                <a:latin typeface="Arial"/>
              </a:rPr>
              <a:t>does not follow </a:t>
            </a:r>
            <a:r>
              <a:rPr lang="en-GB" sz="1800" b="0" strike="noStrike" spc="-1">
                <a:solidFill>
                  <a:srgbClr val="203232"/>
                </a:solidFill>
                <a:latin typeface="Arial"/>
              </a:rPr>
              <a:t>the shape of the underlying data, so for our analysis we  use the non-parametric test for correlation that does not assume normality: </a:t>
            </a:r>
            <a:r>
              <a:rPr lang="en-GB" sz="1800" b="0" strike="noStrike" spc="-1">
                <a:solidFill>
                  <a:srgbClr val="0073CF"/>
                </a:solidFill>
                <a:latin typeface="Arial"/>
              </a:rPr>
              <a:t>Spearman’s Rho </a:t>
            </a:r>
            <a:r>
              <a:rPr lang="en-GB" sz="1800" b="0" strike="noStrike" spc="-1">
                <a:solidFill>
                  <a:srgbClr val="203232"/>
                </a:solidFill>
                <a:latin typeface="Arial"/>
              </a:rPr>
              <a:t>or </a:t>
            </a:r>
            <a:r>
              <a:rPr lang="en-GB" sz="1800" b="0" strike="noStrike" spc="-1">
                <a:solidFill>
                  <a:srgbClr val="0073CF"/>
                </a:solidFill>
                <a:latin typeface="Arial"/>
              </a:rPr>
              <a:t>Kendal’s Tau</a:t>
            </a:r>
            <a:endParaRPr lang="en-US" sz="1800" b="0" strike="noStrike" spc="-1">
              <a:latin typeface="Arial"/>
            </a:endParaRPr>
          </a:p>
          <a:p>
            <a:pPr>
              <a:lnSpc>
                <a:spcPct val="100000"/>
              </a:lnSpc>
              <a:defRPr/>
            </a:pPr>
            <a:endParaRPr lang="en-US" sz="1800" b="0" strike="noStrike" spc="-1">
              <a:latin typeface="Arial"/>
            </a:endParaRPr>
          </a:p>
          <a:p>
            <a:pPr>
              <a:lnSpc>
                <a:spcPct val="100000"/>
              </a:lnSpc>
              <a:defRPr/>
            </a:pPr>
            <a:r>
              <a:rPr lang="en-GB" sz="1800" b="0" strike="noStrike" spc="-1">
                <a:solidFill>
                  <a:srgbClr val="0073CF"/>
                </a:solidFill>
                <a:latin typeface="Arial"/>
              </a:rPr>
              <a:t>The example here is borderline, in terms of shape, so when in doubt choose the non-parametric equivalent.</a:t>
            </a:r>
            <a:endParaRPr lang="en-US" sz="1800" b="0" strike="noStrike" spc="-1">
              <a:latin typeface="Arial"/>
            </a:endParaRPr>
          </a:p>
        </p:txBody>
      </p:sp>
      <p:pic>
        <p:nvPicPr>
          <p:cNvPr id="1194603383" name="Picture 5" descr="Chart, histogram&#10;&#10;Description automatically generated"/>
          <p:cNvPicPr/>
          <p:nvPr/>
        </p:nvPicPr>
        <p:blipFill rotWithShape="1">
          <a:blip r:embed="rId3"/>
          <a:stretch/>
        </p:blipFill>
        <p:spPr bwMode="auto">
          <a:xfrm>
            <a:off x="885960" y="1685879"/>
            <a:ext cx="5057640" cy="505764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9286445" name="CustomShape 1"/>
          <p:cNvSpPr/>
          <p:nvPr/>
        </p:nvSpPr>
        <p:spPr bwMode="auto">
          <a:xfrm>
            <a:off x="0" y="0"/>
            <a:ext cx="12191760" cy="6857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444980933" name="CustomShape 2"/>
          <p:cNvSpPr/>
          <p:nvPr/>
        </p:nvSpPr>
        <p:spPr bwMode="auto">
          <a:xfrm rot="10800000" flipH="1">
            <a:off x="360" y="360"/>
            <a:ext cx="12191760" cy="1575720"/>
          </a:xfrm>
          <a:prstGeom prst="rect">
            <a:avLst/>
          </a:prstGeom>
          <a:gradFill rotWithShape="0">
            <a:gsLst>
              <a:gs pos="0">
                <a:srgbClr val="000000">
                  <a:alpha val="96078"/>
                </a:srgbClr>
              </a:gs>
              <a:gs pos="100000">
                <a:srgbClr val="77418E"/>
              </a:gs>
            </a:gsLst>
            <a:lin ang="156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087991611" name="CustomShape 3"/>
          <p:cNvSpPr/>
          <p:nvPr/>
        </p:nvSpPr>
        <p:spPr bwMode="auto">
          <a:xfrm>
            <a:off x="0" y="0"/>
            <a:ext cx="8128440" cy="1575000"/>
          </a:xfrm>
          <a:prstGeom prst="rect">
            <a:avLst/>
          </a:prstGeom>
          <a:gradFill rotWithShape="0">
            <a:gsLst>
              <a:gs pos="26000">
                <a:srgbClr val="C49FD3">
                  <a:alpha val="0"/>
                </a:srgbClr>
              </a:gs>
              <a:gs pos="100000">
                <a:srgbClr val="9C5FB5">
                  <a:alpha val="41176"/>
                </a:srgbClr>
              </a:gs>
            </a:gsLst>
            <a:lin ang="192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887908079" name="CustomShape 4"/>
          <p:cNvSpPr/>
          <p:nvPr/>
        </p:nvSpPr>
        <p:spPr bwMode="auto">
          <a:xfrm flipH="1">
            <a:off x="0" y="0"/>
            <a:ext cx="12191760" cy="1573920"/>
          </a:xfrm>
          <a:prstGeom prst="rect">
            <a:avLst/>
          </a:prstGeom>
          <a:gradFill rotWithShape="0">
            <a:gsLst>
              <a:gs pos="22000">
                <a:srgbClr val="9C5FB5">
                  <a:alpha val="15294"/>
                </a:srgbClr>
              </a:gs>
              <a:gs pos="100000">
                <a:srgbClr val="000000">
                  <a:alpha val="63137"/>
                </a:srgbClr>
              </a:gs>
            </a:gsLst>
            <a:lin ang="60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583393957" name="TextShape 5"/>
          <p:cNvSpPr txBox="1"/>
          <p:nvPr/>
        </p:nvSpPr>
        <p:spPr bwMode="auto">
          <a:xfrm>
            <a:off x="290880" y="158400"/>
            <a:ext cx="7063200" cy="1158840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sz="2400" b="0" strike="noStrike" spc="-201">
                <a:solidFill>
                  <a:srgbClr val="FFFFFF"/>
                </a:solidFill>
                <a:latin typeface="Arial"/>
              </a:rPr>
              <a:t> </a:t>
            </a:r>
            <a:br>
              <a:rPr/>
            </a:br>
            <a:br>
              <a:rPr/>
            </a:br>
            <a:endParaRPr lang="en-US" sz="2400" b="0" strike="noStrike" spc="-1">
              <a:solidFill>
                <a:srgbClr val="203232"/>
              </a:solidFill>
              <a:latin typeface="Arial"/>
            </a:endParaRPr>
          </a:p>
        </p:txBody>
      </p:sp>
      <p:sp>
        <p:nvSpPr>
          <p:cNvPr id="615485063" name="TextShape 6"/>
          <p:cNvSpPr txBox="1"/>
          <p:nvPr/>
        </p:nvSpPr>
        <p:spPr bwMode="auto">
          <a:xfrm>
            <a:off x="7354080" y="203882"/>
            <a:ext cx="4705437" cy="115884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>
              <a:lnSpc>
                <a:spcPts val="2880"/>
              </a:lnSpc>
              <a:spcAft>
                <a:spcPts val="992"/>
              </a:spcAft>
              <a:tabLst>
                <a:tab pos="0" algn="l"/>
              </a:tabLst>
              <a:defRPr/>
            </a:pPr>
            <a:r>
              <a:rPr lang="en-GB" sz="3000" b="1" strike="noStrike" spc="-100">
                <a:solidFill>
                  <a:srgbClr val="FFFFFF"/>
                </a:solidFill>
                <a:latin typeface="Arial"/>
              </a:rPr>
              <a:t>Our RQ asks about Differences in means/ medians </a:t>
            </a:r>
            <a:endParaRPr lang="en-US" sz="3000" b="1" strike="noStrike" spc="-1">
              <a:latin typeface="Arial"/>
            </a:endParaRPr>
          </a:p>
        </p:txBody>
      </p:sp>
      <p:sp>
        <p:nvSpPr>
          <p:cNvPr id="1165032005" name="TextShape 7"/>
          <p:cNvSpPr txBox="1"/>
          <p:nvPr/>
        </p:nvSpPr>
        <p:spPr bwMode="auto">
          <a:xfrm>
            <a:off x="11704320" y="6455520"/>
            <a:ext cx="44784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/>
          </a:bodyPr>
          <a:lstStyle/>
          <a:p>
            <a:pPr algn="r">
              <a:lnSpc>
                <a:spcPct val="100000"/>
              </a:lnSpc>
              <a:spcAft>
                <a:spcPts val="601"/>
              </a:spcAft>
              <a:defRPr/>
            </a:pPr>
            <a:fld id="{29CEFF96-2F62-4B45-8A43-FC60A0A96C7C}" type="slidenum">
              <a:rPr lang="en-US" sz="1100" b="1" strike="noStrike" spc="-1">
                <a:solidFill>
                  <a:srgbClr val="7DABAB"/>
                </a:solidFill>
                <a:latin typeface="Arial"/>
              </a:rPr>
              <a:t>11</a:t>
            </a:fld>
            <a:endParaRPr lang="en-US" sz="1100" b="0" strike="noStrike" spc="-1">
              <a:latin typeface="Times New Roman"/>
            </a:endParaRPr>
          </a:p>
        </p:txBody>
      </p:sp>
      <p:sp>
        <p:nvSpPr>
          <p:cNvPr id="932114503" name="CustomShape 8"/>
          <p:cNvSpPr/>
          <p:nvPr/>
        </p:nvSpPr>
        <p:spPr bwMode="auto">
          <a:xfrm>
            <a:off x="366120" y="197640"/>
            <a:ext cx="6988320" cy="1187640"/>
          </a:xfrm>
          <a:prstGeom prst="rect">
            <a:avLst/>
          </a:prstGeom>
          <a:noFill/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  <a:defRPr/>
            </a:pPr>
            <a:r>
              <a:rPr lang="en-GB" sz="2400" b="0" strike="noStrike" spc="-1">
                <a:solidFill>
                  <a:srgbClr val="FFFFFF"/>
                </a:solidFill>
                <a:latin typeface="Arial"/>
              </a:rPr>
              <a:t>Here is a </a:t>
            </a:r>
            <a:r>
              <a:rPr lang="en-GB" sz="2400" b="1" strike="noStrike" spc="-1">
                <a:solidFill>
                  <a:srgbClr val="FFFFFF"/>
                </a:solidFill>
                <a:latin typeface="Arial"/>
              </a:rPr>
              <a:t>Histogram </a:t>
            </a:r>
            <a:r>
              <a:rPr lang="en-GB" sz="2400" b="0" strike="noStrike" spc="-1">
                <a:solidFill>
                  <a:srgbClr val="FFFFFF"/>
                </a:solidFill>
                <a:latin typeface="Arial"/>
              </a:rPr>
              <a:t>showing the frequencies of our dependent variable to include the normal curve overlay (shown in blue)</a:t>
            </a:r>
            <a:r>
              <a:rPr lang="en-GB" sz="1800" b="0" strike="noStrike" spc="-1">
                <a:solidFill>
                  <a:srgbClr val="203232"/>
                </a:solidFill>
                <a:latin typeface="Arial"/>
              </a:rPr>
              <a:t>.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1186368746" name="CustomShape 9"/>
          <p:cNvSpPr/>
          <p:nvPr/>
        </p:nvSpPr>
        <p:spPr bwMode="auto">
          <a:xfrm>
            <a:off x="290880" y="1627560"/>
            <a:ext cx="10865160" cy="4886280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defRPr/>
            </a:pPr>
            <a:r>
              <a:rPr lang="en-GB" sz="1800" b="0" strike="noStrike" spc="-1">
                <a:solidFill>
                  <a:srgbClr val="000000"/>
                </a:solidFill>
                <a:latin typeface="Arial"/>
              </a:rPr>
              <a:t>For example:</a:t>
            </a:r>
            <a:endParaRPr lang="en-US" sz="1800" b="0" strike="noStrike" spc="-1">
              <a:latin typeface="Arial"/>
            </a:endParaRPr>
          </a:p>
          <a:p>
            <a:pPr>
              <a:lnSpc>
                <a:spcPct val="100000"/>
              </a:lnSpc>
              <a:defRPr/>
            </a:pPr>
            <a:endParaRPr lang="en-US" sz="1800" b="0" strike="noStrike" spc="-1">
              <a:latin typeface="Arial"/>
            </a:endParaRPr>
          </a:p>
          <a:p>
            <a:pPr>
              <a:lnSpc>
                <a:spcPct val="100000"/>
              </a:lnSpc>
              <a:defRPr/>
            </a:pPr>
            <a:endParaRPr lang="en-US" sz="1800" b="0" strike="noStrike" spc="-1">
              <a:latin typeface="Arial"/>
            </a:endParaRPr>
          </a:p>
          <a:p>
            <a:pPr>
              <a:lnSpc>
                <a:spcPct val="100000"/>
              </a:lnSpc>
              <a:defRPr/>
            </a:pPr>
            <a:endParaRPr lang="en-US" sz="1800" b="0" strike="noStrike" spc="-1">
              <a:latin typeface="Arial"/>
            </a:endParaRPr>
          </a:p>
          <a:p>
            <a:pPr>
              <a:lnSpc>
                <a:spcPct val="100000"/>
              </a:lnSpc>
              <a:defRPr/>
            </a:pPr>
            <a:endParaRPr lang="en-US" sz="1800" b="0" strike="noStrike" spc="-1">
              <a:latin typeface="Arial"/>
            </a:endParaRPr>
          </a:p>
          <a:p>
            <a:pPr>
              <a:lnSpc>
                <a:spcPct val="100000"/>
              </a:lnSpc>
              <a:defRPr/>
            </a:pPr>
            <a:endParaRPr lang="en-US" sz="1800" b="0" strike="noStrike" spc="-1">
              <a:latin typeface="Arial"/>
            </a:endParaRPr>
          </a:p>
          <a:p>
            <a:pPr>
              <a:lnSpc>
                <a:spcPct val="100000"/>
              </a:lnSpc>
              <a:defRPr/>
            </a:pPr>
            <a:endParaRPr lang="en-US" sz="1800" b="0" strike="noStrike" spc="-1">
              <a:latin typeface="Arial"/>
            </a:endParaRPr>
          </a:p>
          <a:p>
            <a:pPr>
              <a:lnSpc>
                <a:spcPct val="100000"/>
              </a:lnSpc>
              <a:defRPr/>
            </a:pPr>
            <a:endParaRPr lang="en-US" sz="1800" b="0" strike="noStrike" spc="-1">
              <a:latin typeface="Arial"/>
            </a:endParaRPr>
          </a:p>
          <a:p>
            <a:pPr>
              <a:lnSpc>
                <a:spcPct val="100000"/>
              </a:lnSpc>
              <a:defRPr/>
            </a:pPr>
            <a:endParaRPr lang="en-US" sz="1800" b="0" strike="noStrike" spc="-1">
              <a:latin typeface="Arial"/>
            </a:endParaRPr>
          </a:p>
          <a:p>
            <a:pPr>
              <a:lnSpc>
                <a:spcPct val="100000"/>
              </a:lnSpc>
              <a:defRPr/>
            </a:pPr>
            <a:endParaRPr lang="en-US" sz="1800" b="0" strike="noStrike" spc="-1">
              <a:latin typeface="Arial"/>
            </a:endParaRPr>
          </a:p>
          <a:p>
            <a:pPr>
              <a:lnSpc>
                <a:spcPct val="100000"/>
              </a:lnSpc>
              <a:defRPr/>
            </a:pPr>
            <a:endParaRPr lang="en-US" sz="1800" b="0" strike="noStrike" spc="-1">
              <a:latin typeface="Arial"/>
            </a:endParaRPr>
          </a:p>
          <a:p>
            <a:pPr>
              <a:lnSpc>
                <a:spcPct val="100000"/>
              </a:lnSpc>
              <a:defRPr/>
            </a:pPr>
            <a:endParaRPr lang="en-US" sz="1800" b="0" strike="noStrike" spc="-1">
              <a:latin typeface="Arial"/>
            </a:endParaRPr>
          </a:p>
          <a:p>
            <a:pPr>
              <a:lnSpc>
                <a:spcPct val="100000"/>
              </a:lnSpc>
              <a:defRPr/>
            </a:pPr>
            <a:endParaRPr lang="en-US" sz="1800" b="0" strike="noStrike" spc="-1">
              <a:latin typeface="Arial"/>
            </a:endParaRPr>
          </a:p>
          <a:p>
            <a:pPr>
              <a:lnSpc>
                <a:spcPct val="100000"/>
              </a:lnSpc>
              <a:defRPr/>
            </a:pPr>
            <a:endParaRPr lang="en-US" sz="1800" b="0" strike="noStrike" spc="-1">
              <a:latin typeface="Arial"/>
            </a:endParaRPr>
          </a:p>
          <a:p>
            <a:pPr>
              <a:lnSpc>
                <a:spcPct val="100000"/>
              </a:lnSpc>
              <a:defRPr/>
            </a:pPr>
            <a:endParaRPr lang="en-US" sz="1800" b="0" strike="noStrike" spc="-1">
              <a:latin typeface="Arial"/>
            </a:endParaRPr>
          </a:p>
          <a:p>
            <a:pPr>
              <a:lnSpc>
                <a:spcPct val="100000"/>
              </a:lnSpc>
              <a:defRPr/>
            </a:pPr>
            <a:endParaRPr lang="en-US" sz="1800" b="0" strike="noStrike" spc="-1">
              <a:latin typeface="Arial"/>
            </a:endParaRPr>
          </a:p>
        </p:txBody>
      </p:sp>
      <p:sp>
        <p:nvSpPr>
          <p:cNvPr id="738509302" name="CustomShape 10"/>
          <p:cNvSpPr/>
          <p:nvPr/>
        </p:nvSpPr>
        <p:spPr bwMode="auto">
          <a:xfrm>
            <a:off x="6403680" y="1917361"/>
            <a:ext cx="4475760" cy="4522861"/>
          </a:xfrm>
          <a:prstGeom prst="rect">
            <a:avLst/>
          </a:prstGeom>
          <a:noFill/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>
              <a:lnSpc>
                <a:spcPct val="100000"/>
              </a:lnSpc>
              <a:defRPr/>
            </a:pPr>
            <a:r>
              <a:rPr lang="en-GB" sz="1800" b="0" strike="noStrike" spc="-1">
                <a:solidFill>
                  <a:srgbClr val="203232"/>
                </a:solidFill>
                <a:latin typeface="Arial"/>
              </a:rPr>
              <a:t>Choose one:</a:t>
            </a:r>
            <a:endParaRPr/>
          </a:p>
          <a:p>
            <a:pPr>
              <a:lnSpc>
                <a:spcPct val="100000"/>
              </a:lnSpc>
              <a:defRPr/>
            </a:pPr>
            <a:endParaRPr lang="en-US" sz="1800" b="0" strike="noStrike" spc="-1">
              <a:latin typeface="Arial"/>
            </a:endParaRPr>
          </a:p>
          <a:p>
            <a:pPr>
              <a:lnSpc>
                <a:spcPct val="100000"/>
              </a:lnSpc>
              <a:defRPr/>
            </a:pPr>
            <a:r>
              <a:rPr lang="en-GB" sz="1800" b="0" strike="noStrike" spc="-1">
                <a:solidFill>
                  <a:srgbClr val="203232"/>
                </a:solidFill>
                <a:latin typeface="Arial"/>
              </a:rPr>
              <a:t>1. The normal curve overlay </a:t>
            </a:r>
            <a:r>
              <a:rPr lang="en-GB" sz="1800" b="1" i="1" strike="noStrike" spc="-1">
                <a:solidFill>
                  <a:srgbClr val="203232"/>
                </a:solidFill>
                <a:latin typeface="Arial"/>
              </a:rPr>
              <a:t>follows</a:t>
            </a:r>
            <a:r>
              <a:rPr lang="en-GB" sz="1800" b="0" strike="noStrike" spc="-1">
                <a:solidFill>
                  <a:srgbClr val="203232"/>
                </a:solidFill>
                <a:latin typeface="Arial"/>
              </a:rPr>
              <a:t> the contours of the underlying data, so we use the parametric test</a:t>
            </a:r>
            <a:r>
              <a:rPr lang="en-GB" sz="1800" b="0" strike="noStrike" spc="-1">
                <a:solidFill>
                  <a:srgbClr val="0073CF"/>
                </a:solidFill>
                <a:latin typeface="Arial"/>
              </a:rPr>
              <a:t>: t-test.</a:t>
            </a:r>
            <a:endParaRPr lang="en-US" sz="1800" b="0" strike="noStrike" spc="-1">
              <a:latin typeface="Arial"/>
            </a:endParaRPr>
          </a:p>
          <a:p>
            <a:pPr>
              <a:lnSpc>
                <a:spcPct val="100000"/>
              </a:lnSpc>
              <a:defRPr/>
            </a:pPr>
            <a:r>
              <a:rPr lang="en-GB" sz="1800" b="0" strike="noStrike" spc="-1">
                <a:solidFill>
                  <a:srgbClr val="0073CF"/>
                </a:solidFill>
                <a:latin typeface="Arial"/>
              </a:rPr>
              <a:t>OR</a:t>
            </a:r>
            <a:endParaRPr lang="en-US" sz="1800" b="0" strike="noStrike" spc="-1">
              <a:latin typeface="Arial"/>
            </a:endParaRPr>
          </a:p>
          <a:p>
            <a:pPr>
              <a:lnSpc>
                <a:spcPct val="100000"/>
              </a:lnSpc>
              <a:defRPr/>
            </a:pPr>
            <a:r>
              <a:rPr lang="en-GB" sz="1800" b="0" strike="noStrike" spc="-1">
                <a:solidFill>
                  <a:srgbClr val="203232"/>
                </a:solidFill>
                <a:latin typeface="Arial"/>
              </a:rPr>
              <a:t>2. The normal curve overlay </a:t>
            </a:r>
            <a:r>
              <a:rPr lang="en-GB" sz="1800" b="1" i="1" strike="noStrike" spc="-1">
                <a:solidFill>
                  <a:srgbClr val="203232"/>
                </a:solidFill>
                <a:latin typeface="Arial"/>
              </a:rPr>
              <a:t>does not follow</a:t>
            </a:r>
            <a:r>
              <a:rPr lang="en-GB" sz="1800" b="0" strike="noStrike" spc="-1">
                <a:solidFill>
                  <a:srgbClr val="203232"/>
                </a:solidFill>
                <a:latin typeface="Arial"/>
              </a:rPr>
              <a:t> the shape of the underlying data, so we use the non-parametric test that does not assume normality: </a:t>
            </a:r>
            <a:r>
              <a:rPr lang="en-GB" sz="1800" b="0" strike="noStrike" spc="-1">
                <a:solidFill>
                  <a:srgbClr val="0073CF"/>
                </a:solidFill>
                <a:latin typeface="Arial"/>
              </a:rPr>
              <a:t>Wilcoxon</a:t>
            </a:r>
            <a:r>
              <a:rPr lang="en-GB" sz="1800" b="0" strike="noStrike" spc="-1">
                <a:solidFill>
                  <a:srgbClr val="203232"/>
                </a:solidFill>
                <a:latin typeface="Arial"/>
              </a:rPr>
              <a:t> also known as the </a:t>
            </a:r>
            <a:r>
              <a:rPr lang="en-GB" sz="1800" b="0" strike="noStrike" spc="-1">
                <a:solidFill>
                  <a:srgbClr val="0073CF"/>
                </a:solidFill>
                <a:latin typeface="Arial"/>
              </a:rPr>
              <a:t>Mann Whitney U Test.</a:t>
            </a:r>
            <a:endParaRPr lang="en-US" sz="1800" b="0" strike="noStrike" spc="-1">
              <a:latin typeface="Arial"/>
            </a:endParaRPr>
          </a:p>
          <a:p>
            <a:pPr>
              <a:lnSpc>
                <a:spcPct val="100000"/>
              </a:lnSpc>
              <a:defRPr/>
            </a:pPr>
            <a:endParaRPr lang="en-US" sz="1800" b="0" strike="noStrike" spc="-1">
              <a:latin typeface="Arial"/>
            </a:endParaRPr>
          </a:p>
          <a:p>
            <a:pPr>
              <a:lnSpc>
                <a:spcPct val="100000"/>
              </a:lnSpc>
              <a:defRPr/>
            </a:pPr>
            <a:r>
              <a:rPr lang="en-GB" sz="1800" b="0" strike="noStrike" spc="-1">
                <a:solidFill>
                  <a:srgbClr val="0073CF"/>
                </a:solidFill>
                <a:latin typeface="Arial"/>
              </a:rPr>
              <a:t>The example here is borderline, in terms of shape, so when in doubt choose the non-parametric equivalent.</a:t>
            </a:r>
            <a:endParaRPr lang="en-US" sz="1800" b="0" strike="noStrike" spc="-1">
              <a:latin typeface="Arial"/>
            </a:endParaRPr>
          </a:p>
          <a:p>
            <a:pPr>
              <a:lnSpc>
                <a:spcPct val="100000"/>
              </a:lnSpc>
              <a:defRPr/>
            </a:pPr>
            <a:endParaRPr lang="en-US" sz="1800" b="0" strike="noStrike" spc="-1">
              <a:latin typeface="Arial"/>
            </a:endParaRPr>
          </a:p>
        </p:txBody>
      </p:sp>
      <p:pic>
        <p:nvPicPr>
          <p:cNvPr id="1868994841" name="Picture 20" descr="Chart, histogram&#10;&#10;Description automatically generated"/>
          <p:cNvPicPr/>
          <p:nvPr/>
        </p:nvPicPr>
        <p:blipFill rotWithShape="1">
          <a:blip r:embed="rId3"/>
          <a:stretch/>
        </p:blipFill>
        <p:spPr bwMode="auto">
          <a:xfrm>
            <a:off x="1312560" y="1731961"/>
            <a:ext cx="4800240" cy="480024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2311694" name="CustomShape 1"/>
          <p:cNvSpPr/>
          <p:nvPr/>
        </p:nvSpPr>
        <p:spPr bwMode="auto">
          <a:xfrm>
            <a:off x="0" y="0"/>
            <a:ext cx="12191760" cy="6857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16129955" name="CustomShape 2"/>
          <p:cNvSpPr/>
          <p:nvPr/>
        </p:nvSpPr>
        <p:spPr bwMode="auto">
          <a:xfrm rot="10800000" flipH="1">
            <a:off x="360" y="360"/>
            <a:ext cx="12191760" cy="1575720"/>
          </a:xfrm>
          <a:prstGeom prst="rect">
            <a:avLst/>
          </a:prstGeom>
          <a:gradFill rotWithShape="0">
            <a:gsLst>
              <a:gs pos="0">
                <a:srgbClr val="000000">
                  <a:alpha val="96078"/>
                </a:srgbClr>
              </a:gs>
              <a:gs pos="100000">
                <a:srgbClr val="77418E"/>
              </a:gs>
            </a:gsLst>
            <a:lin ang="156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613009838" name="CustomShape 3"/>
          <p:cNvSpPr/>
          <p:nvPr/>
        </p:nvSpPr>
        <p:spPr bwMode="auto">
          <a:xfrm>
            <a:off x="0" y="0"/>
            <a:ext cx="8128440" cy="1575000"/>
          </a:xfrm>
          <a:prstGeom prst="rect">
            <a:avLst/>
          </a:prstGeom>
          <a:gradFill rotWithShape="0">
            <a:gsLst>
              <a:gs pos="26000">
                <a:srgbClr val="C49FD3">
                  <a:alpha val="0"/>
                </a:srgbClr>
              </a:gs>
              <a:gs pos="100000">
                <a:srgbClr val="9C5FB5">
                  <a:alpha val="41176"/>
                </a:srgbClr>
              </a:gs>
            </a:gsLst>
            <a:lin ang="192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469343667" name="CustomShape 4"/>
          <p:cNvSpPr/>
          <p:nvPr/>
        </p:nvSpPr>
        <p:spPr bwMode="auto">
          <a:xfrm flipH="1">
            <a:off x="0" y="0"/>
            <a:ext cx="12191760" cy="1573920"/>
          </a:xfrm>
          <a:prstGeom prst="rect">
            <a:avLst/>
          </a:prstGeom>
          <a:gradFill rotWithShape="0">
            <a:gsLst>
              <a:gs pos="22000">
                <a:srgbClr val="9C5FB5">
                  <a:alpha val="15294"/>
                </a:srgbClr>
              </a:gs>
              <a:gs pos="100000">
                <a:srgbClr val="000000">
                  <a:alpha val="63137"/>
                </a:srgbClr>
              </a:gs>
            </a:gsLst>
            <a:lin ang="60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456286033" name="TextShape 5"/>
          <p:cNvSpPr txBox="1"/>
          <p:nvPr/>
        </p:nvSpPr>
        <p:spPr bwMode="auto">
          <a:xfrm>
            <a:off x="385920" y="118753"/>
            <a:ext cx="7534922" cy="1383887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 fontScale="40000" lnSpcReduction="20000"/>
          </a:bodyPr>
          <a:lstStyle/>
          <a:p>
            <a:pPr>
              <a:lnSpc>
                <a:spcPct val="110000"/>
              </a:lnSpc>
              <a:defRPr/>
            </a:pPr>
            <a:r>
              <a:rPr lang="en-US" sz="4000" b="0" strike="noStrike">
                <a:solidFill>
                  <a:srgbClr val="FFFFFF"/>
                </a:solidFill>
                <a:latin typeface="Arial"/>
              </a:rPr>
              <a:t>Here is a contingency table (</a:t>
            </a:r>
            <a:r>
              <a:rPr lang="en-US" sz="4000">
                <a:solidFill>
                  <a:srgbClr val="FFFFFF"/>
                </a:solidFill>
              </a:rPr>
              <a:t>also known as table (matrix/cross tabulation</a:t>
            </a:r>
            <a:r>
              <a:rPr lang="en-US" sz="4000" b="0" strike="noStrike">
                <a:solidFill>
                  <a:srgbClr val="FFFFFF"/>
                </a:solidFill>
                <a:latin typeface="Arial"/>
              </a:rPr>
              <a:t>) showing our dependent variable as rows, and our independent variable as columns.  We have at least two values for both variables that are independent of each other (no overlap).  </a:t>
            </a:r>
            <a:endParaRPr/>
          </a:p>
          <a:p>
            <a:pPr>
              <a:lnSpc>
                <a:spcPct val="110000"/>
              </a:lnSpc>
              <a:defRPr/>
            </a:pPr>
            <a:r>
              <a:rPr lang="en-US" sz="4000" b="0" strike="noStrike">
                <a:solidFill>
                  <a:srgbClr val="FFFFFF"/>
                </a:solidFill>
                <a:latin typeface="Arial"/>
              </a:rPr>
              <a:t>For example:</a:t>
            </a:r>
            <a:br>
              <a:rPr/>
            </a:br>
            <a:endParaRPr lang="en-US" sz="2400" b="0" strike="noStrike" spc="-1">
              <a:solidFill>
                <a:srgbClr val="203232"/>
              </a:solidFill>
              <a:latin typeface="Arial"/>
            </a:endParaRPr>
          </a:p>
        </p:txBody>
      </p:sp>
      <p:sp>
        <p:nvSpPr>
          <p:cNvPr id="1132244378" name="TextShape 6"/>
          <p:cNvSpPr txBox="1"/>
          <p:nvPr/>
        </p:nvSpPr>
        <p:spPr bwMode="auto">
          <a:xfrm>
            <a:off x="8370720" y="350280"/>
            <a:ext cx="3233160" cy="87336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>
              <a:lnSpc>
                <a:spcPct val="90000"/>
              </a:lnSpc>
              <a:spcBef>
                <a:spcPts val="1001"/>
              </a:spcBef>
              <a:spcAft>
                <a:spcPts val="992"/>
              </a:spcAft>
              <a:tabLst>
                <a:tab pos="0" algn="l"/>
              </a:tabLst>
              <a:defRPr/>
            </a:pPr>
            <a:r>
              <a:rPr lang="en-US" sz="3200" b="1" strike="noStrike" spc="-100">
                <a:solidFill>
                  <a:srgbClr val="FFFFFF"/>
                </a:solidFill>
                <a:latin typeface="Arial"/>
              </a:rPr>
              <a:t>Our RQ is about Differences in proportions</a:t>
            </a:r>
            <a:endParaRPr lang="en-US" sz="3200" b="0" strike="noStrike" spc="-1">
              <a:latin typeface="Arial"/>
            </a:endParaRPr>
          </a:p>
        </p:txBody>
      </p:sp>
      <p:sp>
        <p:nvSpPr>
          <p:cNvPr id="1723484141" name="TextShape 7"/>
          <p:cNvSpPr txBox="1"/>
          <p:nvPr/>
        </p:nvSpPr>
        <p:spPr bwMode="auto">
          <a:xfrm>
            <a:off x="11704320" y="6455520"/>
            <a:ext cx="44784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/>
          </a:bodyPr>
          <a:lstStyle/>
          <a:p>
            <a:pPr algn="r">
              <a:lnSpc>
                <a:spcPct val="100000"/>
              </a:lnSpc>
              <a:spcAft>
                <a:spcPts val="601"/>
              </a:spcAft>
              <a:defRPr/>
            </a:pPr>
            <a:fld id="{5783AF93-FAFA-4E86-B9B0-359A2F820963}" type="slidenum">
              <a:rPr lang="en-US" sz="1100" b="1" strike="noStrike" spc="-1">
                <a:solidFill>
                  <a:srgbClr val="7DABAB"/>
                </a:solidFill>
                <a:latin typeface="Arial"/>
              </a:rPr>
              <a:t>12</a:t>
            </a:fld>
            <a:endParaRPr lang="en-US" sz="1100" b="0" strike="noStrike" spc="-1">
              <a:latin typeface="Times New Roman"/>
            </a:endParaRPr>
          </a:p>
        </p:txBody>
      </p:sp>
      <p:graphicFrame>
        <p:nvGraphicFramePr>
          <p:cNvPr id="1364867873" name="Table 8"/>
          <p:cNvGraphicFramePr>
            <a:graphicFrameLocks xmlns:a="http://schemas.openxmlformats.org/drawingml/2006/main"/>
          </p:cNvGraphicFramePr>
          <p:nvPr/>
        </p:nvGraphicFramePr>
        <p:xfrm rot="0">
          <a:off x="1371240" y="1695960"/>
          <a:ext cx="9862560" cy="38862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855440"/>
                <a:gridCol w="1320120"/>
                <a:gridCol w="1075680"/>
                <a:gridCol w="1166400"/>
                <a:gridCol w="1075680"/>
                <a:gridCol w="1758240"/>
                <a:gridCol w="1611000"/>
              </a:tblGrid>
              <a:tr h="438840">
                <a:tc gridSpan="7">
                  <a:txBody>
                    <a:bodyPr/>
                    <a:p>
                      <a:pPr algn="ctr">
                        <a:lnSpc>
                          <a:spcPct val="100000"/>
                        </a:lnSpc>
                        <a:defRPr/>
                      </a:pPr>
                      <a:r>
                        <a:rPr lang="en-US" sz="2300" b="1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Reason for absenteeism </a:t>
                      </a:r>
                      <a:r>
                        <a:rPr lang="en-US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(Sample 16,550)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rgbClr val="EFEAF2"/>
                    </a:solidFill>
                  </a:tcPr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</a:tr>
              <a:tr h="789840">
                <a:tc>
                  <a:txBody>
                    <a:bodyPr/>
                    <a:p>
                      <a:pPr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000000"/>
                          </a:solidFill>
                          <a:latin typeface="Arial"/>
                        </a:rPr>
                        <a:t>Age group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203232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203232"/>
                      </a:solidFill>
                    </a:lnB>
                    <a:solidFill>
                      <a:srgbClr val="EFEAF2"/>
                    </a:solidFill>
                  </a:tcPr>
                </a:tc>
                <a:tc>
                  <a:txBody>
                    <a:bodyPr/>
                    <a:p>
                      <a:pPr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Operation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203232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203232"/>
                      </a:solidFill>
                    </a:lnB>
                    <a:solidFill>
                      <a:srgbClr val="EFEAF2"/>
                    </a:solidFill>
                  </a:tcPr>
                </a:tc>
                <a:tc>
                  <a:txBody>
                    <a:bodyPr/>
                    <a:p>
                      <a:pPr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Stress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203232"/>
                      </a:solidFill>
                    </a:lnB>
                    <a:solidFill>
                      <a:srgbClr val="EFEAF2"/>
                    </a:solidFill>
                  </a:tcPr>
                </a:tc>
                <a:tc>
                  <a:txBody>
                    <a:bodyPr/>
                    <a:p>
                      <a:pPr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Physical Illness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203232"/>
                      </a:solidFill>
                    </a:lnB>
                    <a:solidFill>
                      <a:srgbClr val="EFEAF2"/>
                    </a:solidFill>
                  </a:tcPr>
                </a:tc>
                <a:tc>
                  <a:txBody>
                    <a:bodyPr/>
                    <a:p>
                      <a:pPr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Strike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203232"/>
                      </a:solidFill>
                    </a:lnB>
                    <a:solidFill>
                      <a:srgbClr val="EFEAF2"/>
                    </a:solidFill>
                  </a:tcPr>
                </a:tc>
                <a:tc>
                  <a:txBody>
                    <a:bodyPr/>
                    <a:p>
                      <a:pPr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Maternity /</a:t>
                      </a:r>
                      <a:endParaRPr lang="en-US" sz="2300" b="0" strike="noStrike" spc="-1"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paternity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203232"/>
                      </a:solidFill>
                    </a:lnB>
                    <a:solidFill>
                      <a:srgbClr val="EFEAF2"/>
                    </a:solidFill>
                  </a:tcPr>
                </a:tc>
                <a:tc>
                  <a:txBody>
                    <a:bodyPr/>
                    <a:p>
                      <a:pPr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Holiday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203232"/>
                      </a:solidFill>
                    </a:lnB>
                    <a:solidFill>
                      <a:srgbClr val="EFEAF2"/>
                    </a:solidFill>
                  </a:tcPr>
                </a:tc>
              </a:tr>
              <a:tr h="438840">
                <a:tc>
                  <a:txBody>
                    <a:bodyPr/>
                    <a:p>
                      <a:pPr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16 -25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203232"/>
                      </a:solidFill>
                    </a:lnR>
                    <a:lnT w="12240" algn="ctr">
                      <a:solidFill>
                        <a:srgbClr val="203232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rgbClr val="EFEAF2"/>
                    </a:solidFill>
                  </a:tcPr>
                </a:tc>
                <a:tc>
                  <a:txBody>
                    <a:bodyPr/>
                    <a:p>
                      <a:pPr algn="r"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50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203232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203232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rgbClr val="EFEAF2"/>
                    </a:solidFill>
                  </a:tcPr>
                </a:tc>
                <a:tc>
                  <a:txBody>
                    <a:bodyPr/>
                    <a:p>
                      <a:pPr algn="r"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150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203232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rgbClr val="EFEAF2"/>
                    </a:solidFill>
                  </a:tcPr>
                </a:tc>
                <a:tc>
                  <a:txBody>
                    <a:bodyPr/>
                    <a:p>
                      <a:pPr algn="r"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25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203232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rgbClr val="EFEAF2"/>
                    </a:solidFill>
                  </a:tcPr>
                </a:tc>
                <a:tc>
                  <a:txBody>
                    <a:bodyPr/>
                    <a:p>
                      <a:pPr algn="r"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60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203232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rgbClr val="EFEAF2"/>
                    </a:solidFill>
                  </a:tcPr>
                </a:tc>
                <a:tc>
                  <a:txBody>
                    <a:bodyPr/>
                    <a:p>
                      <a:pPr algn="r"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200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203232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rgbClr val="EFEAF2"/>
                    </a:solidFill>
                  </a:tcPr>
                </a:tc>
                <a:tc>
                  <a:txBody>
                    <a:bodyPr/>
                    <a:p>
                      <a:pPr algn="r"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6000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203232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rgbClr val="EFEAF2"/>
                    </a:solidFill>
                  </a:tcPr>
                </a:tc>
              </a:tr>
              <a:tr h="438840">
                <a:tc>
                  <a:txBody>
                    <a:bodyPr/>
                    <a:p>
                      <a:pPr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26- 35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203232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rgbClr val="EFEAF2"/>
                    </a:solidFill>
                  </a:tcPr>
                </a:tc>
                <a:tc>
                  <a:txBody>
                    <a:bodyPr/>
                    <a:p>
                      <a:pPr algn="r"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60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203232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rgbClr val="EFEAF2"/>
                    </a:solidFill>
                  </a:tcPr>
                </a:tc>
                <a:tc>
                  <a:txBody>
                    <a:bodyPr/>
                    <a:p>
                      <a:pPr algn="r"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100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rgbClr val="EFEAF2"/>
                    </a:solidFill>
                  </a:tcPr>
                </a:tc>
                <a:tc>
                  <a:txBody>
                    <a:bodyPr/>
                    <a:p>
                      <a:pPr algn="r"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40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rgbClr val="EFEAF2"/>
                    </a:solidFill>
                  </a:tcPr>
                </a:tc>
                <a:tc>
                  <a:txBody>
                    <a:bodyPr/>
                    <a:p>
                      <a:pPr algn="r"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40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rgbClr val="EFEAF2"/>
                    </a:solidFill>
                  </a:tcPr>
                </a:tc>
                <a:tc>
                  <a:txBody>
                    <a:bodyPr/>
                    <a:p>
                      <a:pPr algn="r"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500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rgbClr val="EFEAF2"/>
                    </a:solidFill>
                  </a:tcPr>
                </a:tc>
                <a:tc>
                  <a:txBody>
                    <a:bodyPr/>
                    <a:p>
                      <a:pPr algn="r"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6000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rgbClr val="EFEAF2"/>
                    </a:solidFill>
                  </a:tcPr>
                </a:tc>
              </a:tr>
              <a:tr h="438840">
                <a:tc>
                  <a:txBody>
                    <a:bodyPr/>
                    <a:p>
                      <a:pPr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36 -45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203232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rgbClr val="EFEAF2"/>
                    </a:solidFill>
                  </a:tcPr>
                </a:tc>
                <a:tc>
                  <a:txBody>
                    <a:bodyPr/>
                    <a:p>
                      <a:pPr algn="r"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80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203232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rgbClr val="EFEAF2"/>
                    </a:solidFill>
                  </a:tcPr>
                </a:tc>
                <a:tc>
                  <a:txBody>
                    <a:bodyPr/>
                    <a:p>
                      <a:pPr algn="r"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300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rgbClr val="EFEAF2"/>
                    </a:solidFill>
                  </a:tcPr>
                </a:tc>
                <a:tc>
                  <a:txBody>
                    <a:bodyPr/>
                    <a:p>
                      <a:pPr algn="r"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60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rgbClr val="EFEAF2"/>
                    </a:solidFill>
                  </a:tcPr>
                </a:tc>
                <a:tc>
                  <a:txBody>
                    <a:bodyPr/>
                    <a:p>
                      <a:pPr algn="r"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100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rgbClr val="EFEAF2"/>
                    </a:solidFill>
                  </a:tcPr>
                </a:tc>
                <a:tc>
                  <a:txBody>
                    <a:bodyPr/>
                    <a:p>
                      <a:pPr algn="r"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400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rgbClr val="EFEAF2"/>
                    </a:solidFill>
                  </a:tcPr>
                </a:tc>
                <a:tc>
                  <a:txBody>
                    <a:bodyPr/>
                    <a:p>
                      <a:pPr algn="r"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6000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rgbClr val="EFEAF2"/>
                    </a:solidFill>
                  </a:tcPr>
                </a:tc>
              </a:tr>
              <a:tr h="438840">
                <a:tc>
                  <a:txBody>
                    <a:bodyPr/>
                    <a:p>
                      <a:pPr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46 -55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203232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rgbClr val="EFEAF2"/>
                    </a:solidFill>
                  </a:tcPr>
                </a:tc>
                <a:tc>
                  <a:txBody>
                    <a:bodyPr/>
                    <a:p>
                      <a:pPr algn="r"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60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203232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rgbClr val="EFEAF2"/>
                    </a:solidFill>
                  </a:tcPr>
                </a:tc>
                <a:tc>
                  <a:txBody>
                    <a:bodyPr/>
                    <a:p>
                      <a:pPr algn="r"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200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rgbClr val="EFEAF2"/>
                    </a:solidFill>
                  </a:tcPr>
                </a:tc>
                <a:tc>
                  <a:txBody>
                    <a:bodyPr/>
                    <a:p>
                      <a:pPr algn="r"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80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rgbClr val="EFEAF2"/>
                    </a:solidFill>
                  </a:tcPr>
                </a:tc>
                <a:tc>
                  <a:txBody>
                    <a:bodyPr/>
                    <a:p>
                      <a:pPr algn="r"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80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rgbClr val="EFEAF2"/>
                    </a:solidFill>
                  </a:tcPr>
                </a:tc>
                <a:tc>
                  <a:txBody>
                    <a:bodyPr/>
                    <a:p>
                      <a:pPr algn="r"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200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rgbClr val="EFEAF2"/>
                    </a:solidFill>
                  </a:tcPr>
                </a:tc>
                <a:tc>
                  <a:txBody>
                    <a:bodyPr/>
                    <a:p>
                      <a:pPr algn="r"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6000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rgbClr val="EFEAF2"/>
                    </a:solidFill>
                  </a:tcPr>
                </a:tc>
              </a:tr>
              <a:tr h="438840">
                <a:tc>
                  <a:txBody>
                    <a:bodyPr/>
                    <a:p>
                      <a:pPr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56 - 65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203232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rgbClr val="EFEAF2"/>
                    </a:solidFill>
                  </a:tcPr>
                </a:tc>
                <a:tc>
                  <a:txBody>
                    <a:bodyPr/>
                    <a:p>
                      <a:pPr algn="r"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100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203232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rgbClr val="EFEAF2"/>
                    </a:solidFill>
                  </a:tcPr>
                </a:tc>
                <a:tc>
                  <a:txBody>
                    <a:bodyPr/>
                    <a:p>
                      <a:pPr algn="r"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250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rgbClr val="EFEAF2"/>
                    </a:solidFill>
                  </a:tcPr>
                </a:tc>
                <a:tc>
                  <a:txBody>
                    <a:bodyPr/>
                    <a:p>
                      <a:pPr algn="r"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100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rgbClr val="EFEAF2"/>
                    </a:solidFill>
                  </a:tcPr>
                </a:tc>
                <a:tc>
                  <a:txBody>
                    <a:bodyPr/>
                    <a:p>
                      <a:pPr algn="r"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120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rgbClr val="EFEAF2"/>
                    </a:solidFill>
                  </a:tcPr>
                </a:tc>
                <a:tc>
                  <a:txBody>
                    <a:bodyPr/>
                    <a:p>
                      <a:pPr algn="r"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100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rgbClr val="EFEAF2"/>
                    </a:solidFill>
                  </a:tcPr>
                </a:tc>
                <a:tc>
                  <a:txBody>
                    <a:bodyPr/>
                    <a:p>
                      <a:pPr algn="r"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6000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rgbClr val="EFEAF2"/>
                    </a:solidFill>
                  </a:tcPr>
                </a:tc>
              </a:tr>
              <a:tr h="440280">
                <a:tc>
                  <a:txBody>
                    <a:bodyPr/>
                    <a:p>
                      <a:pPr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Over 65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203232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rgbClr val="EFEAF2"/>
                    </a:solidFill>
                  </a:tcPr>
                </a:tc>
                <a:tc>
                  <a:txBody>
                    <a:bodyPr/>
                    <a:p>
                      <a:pPr algn="r"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90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203232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rgbClr val="EFEAF2"/>
                    </a:solidFill>
                  </a:tcPr>
                </a:tc>
                <a:tc>
                  <a:txBody>
                    <a:bodyPr/>
                    <a:p>
                      <a:pPr algn="r"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80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rgbClr val="EFEAF2"/>
                    </a:solidFill>
                  </a:tcPr>
                </a:tc>
                <a:tc>
                  <a:txBody>
                    <a:bodyPr/>
                    <a:p>
                      <a:pPr algn="r"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80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rgbClr val="EFEAF2"/>
                    </a:solidFill>
                  </a:tcPr>
                </a:tc>
                <a:tc>
                  <a:txBody>
                    <a:bodyPr/>
                    <a:p>
                      <a:pPr algn="r"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55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rgbClr val="EFEAF2"/>
                    </a:solidFill>
                  </a:tcPr>
                </a:tc>
                <a:tc>
                  <a:txBody>
                    <a:bodyPr/>
                    <a:p>
                      <a:pPr algn="r"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0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rgbClr val="EFEAF2"/>
                    </a:solidFill>
                  </a:tcPr>
                </a:tc>
                <a:tc>
                  <a:txBody>
                    <a:bodyPr/>
                    <a:p>
                      <a:pPr algn="r">
                        <a:lnSpc>
                          <a:spcPct val="100000"/>
                        </a:lnSpc>
                        <a:defRPr/>
                      </a:pPr>
                      <a:r>
                        <a:rPr lang="en-GB" sz="2300" b="0" strike="noStrike" spc="-1">
                          <a:solidFill>
                            <a:srgbClr val="203232"/>
                          </a:solidFill>
                          <a:latin typeface="Arial"/>
                        </a:rPr>
                        <a:t>6000</a:t>
                      </a:r>
                      <a:endParaRPr lang="en-US" sz="2300" b="0" strike="noStrike" spc="-1">
                        <a:latin typeface="Arial"/>
                      </a:endParaRPr>
                    </a:p>
                  </a:txBody>
                  <a:tcPr marL="11160" marR="11160">
                    <a:lnL w="12240" algn="ctr">
                      <a:solidFill>
                        <a:srgbClr val="FFFFFF"/>
                      </a:solidFill>
                    </a:lnL>
                    <a:lnR w="12240" algn="ctr">
                      <a:solidFill>
                        <a:srgbClr val="FFFFFF"/>
                      </a:solidFill>
                    </a:lnR>
                    <a:lnT w="12240" algn="ctr">
                      <a:solidFill>
                        <a:srgbClr val="FFFFFF"/>
                      </a:solidFill>
                    </a:lnT>
                    <a:lnB w="12240" algn="ctr">
                      <a:solidFill>
                        <a:srgbClr val="FFFFFF"/>
                      </a:solidFill>
                    </a:lnB>
                    <a:solidFill>
                      <a:srgbClr val="EFEAF2"/>
                    </a:solidFill>
                  </a:tcPr>
                </a:tc>
              </a:tr>
            </a:tbl>
          </a:graphicData>
        </a:graphic>
      </p:graphicFrame>
      <p:sp>
        <p:nvSpPr>
          <p:cNvPr id="189726033" name="CustomShape 9"/>
          <p:cNvSpPr/>
          <p:nvPr/>
        </p:nvSpPr>
        <p:spPr bwMode="auto">
          <a:xfrm>
            <a:off x="946800" y="5679360"/>
            <a:ext cx="10641960" cy="1187640"/>
          </a:xfrm>
          <a:prstGeom prst="rect">
            <a:avLst/>
          </a:prstGeom>
          <a:noFill/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  <a:defRPr/>
            </a:pPr>
            <a:r>
              <a:rPr lang="en-GB" sz="1800" b="0" strike="noStrike" spc="-1">
                <a:solidFill>
                  <a:srgbClr val="203232"/>
                </a:solidFill>
                <a:latin typeface="Arial"/>
              </a:rPr>
              <a:t>For comparison of proportions analysis, we will use a </a:t>
            </a:r>
            <a:r>
              <a:rPr lang="en-GB" sz="1800" b="1" strike="noStrike" spc="-1">
                <a:solidFill>
                  <a:srgbClr val="203232"/>
                </a:solidFill>
                <a:latin typeface="Arial"/>
              </a:rPr>
              <a:t>chi-square test </a:t>
            </a:r>
            <a:r>
              <a:rPr lang="en-GB" sz="1800" b="0" strike="noStrike" spc="-1">
                <a:solidFill>
                  <a:srgbClr val="203232"/>
                </a:solidFill>
                <a:latin typeface="Arial"/>
              </a:rPr>
              <a:t>to check for the likelihood that there is a relationship between the two nominal variables (reason for absenteeism and age group in example). This non-parametric test makes no assumptions about the shape of the data (which is nominal, not interval) so we do not include a histogram for this test.</a:t>
            </a:r>
            <a:endParaRPr lang="en-US" sz="1800" b="0" strike="noStrike" spc="-1"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9849187" name="TextShape 1"/>
          <p:cNvSpPr txBox="1"/>
          <p:nvPr/>
        </p:nvSpPr>
        <p:spPr bwMode="auto">
          <a:xfrm>
            <a:off x="965160" y="790920"/>
            <a:ext cx="7176600" cy="230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>
              <a:lnSpc>
                <a:spcPct val="100000"/>
              </a:lnSpc>
              <a:defRPr/>
            </a:pPr>
            <a:r>
              <a:rPr lang="en-GB" sz="1500" b="0" strike="noStrike" spc="-1">
                <a:solidFill>
                  <a:srgbClr val="B3B9B9"/>
                </a:solidFill>
                <a:latin typeface="Arial"/>
              </a:rPr>
              <a:t>PRE 7COM1079-2022  Student Group No:  ?????</a:t>
            </a:r>
            <a:endParaRPr lang="en-US" sz="1500" b="0" strike="noStrike" spc="-1">
              <a:latin typeface="Times New Roman"/>
            </a:endParaRPr>
          </a:p>
        </p:txBody>
      </p:sp>
      <p:sp>
        <p:nvSpPr>
          <p:cNvPr id="1666049845" name="TextShape 2"/>
          <p:cNvSpPr txBox="1"/>
          <p:nvPr/>
        </p:nvSpPr>
        <p:spPr bwMode="auto">
          <a:xfrm>
            <a:off x="10616400" y="790920"/>
            <a:ext cx="622440" cy="230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r">
              <a:lnSpc>
                <a:spcPct val="100000"/>
              </a:lnSpc>
              <a:defRPr/>
            </a:pPr>
            <a:fld id="{ADC5D68A-648F-4923-B6A1-749DE04AEFFA}" type="slidenum">
              <a:rPr lang="en-GB" sz="1500" b="1" strike="noStrike" spc="-1">
                <a:solidFill>
                  <a:srgbClr val="B3B9B9"/>
                </a:solidFill>
                <a:latin typeface="Arial"/>
              </a:rPr>
              <a:t>13</a:t>
            </a:fld>
            <a:endParaRPr lang="en-US" sz="1500" b="0" strike="noStrike" spc="-1">
              <a:latin typeface="Times New Roman"/>
            </a:endParaRPr>
          </a:p>
        </p:txBody>
      </p:sp>
      <p:sp>
        <p:nvSpPr>
          <p:cNvPr id="43291043" name="TextShape 3"/>
          <p:cNvSpPr txBox="1"/>
          <p:nvPr/>
        </p:nvSpPr>
        <p:spPr bwMode="auto">
          <a:xfrm>
            <a:off x="952919" y="385588"/>
            <a:ext cx="10815527" cy="667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pPr>
              <a:lnSpc>
                <a:spcPct val="100000"/>
              </a:lnSpc>
              <a:spcAft>
                <a:spcPts val="992"/>
              </a:spcAft>
              <a:tabLst>
                <a:tab pos="0" algn="l"/>
              </a:tabLst>
              <a:defRPr/>
            </a:pPr>
            <a:r>
              <a:rPr lang="en-GB" sz="3600" b="1" strike="noStrike" spc="-100">
                <a:solidFill>
                  <a:srgbClr val="203232"/>
                </a:solidFill>
                <a:latin typeface="Arial"/>
              </a:rPr>
              <a:t>R Script and Results  (For ALL types of test) – The Analysis</a:t>
            </a:r>
            <a:endParaRPr lang="en-US" sz="3600" b="1" strike="noStrike" spc="-1">
              <a:latin typeface="Arial"/>
            </a:endParaRPr>
          </a:p>
          <a:p>
            <a:pPr>
              <a:lnSpc>
                <a:spcPct val="100000"/>
              </a:lnSpc>
              <a:spcAft>
                <a:spcPts val="992"/>
              </a:spcAft>
              <a:tabLst>
                <a:tab pos="0" algn="l"/>
              </a:tabLst>
              <a:defRPr/>
            </a:pPr>
            <a:endParaRPr lang="en-US" sz="2400" b="0" strike="noStrike" spc="-1">
              <a:latin typeface="Arial"/>
            </a:endParaRPr>
          </a:p>
        </p:txBody>
      </p:sp>
      <p:sp>
        <p:nvSpPr>
          <p:cNvPr id="1193037565" name="TextBox 1"/>
          <p:cNvSpPr txBox="1"/>
          <p:nvPr/>
        </p:nvSpPr>
        <p:spPr bwMode="auto">
          <a:xfrm>
            <a:off x="701456" y="1671661"/>
            <a:ext cx="11085346" cy="55781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/>
              <a:buChar char="•"/>
              <a:defRPr/>
            </a:pPr>
            <a:r>
              <a:rPr lang="en-US" sz="3600" b="0" strike="noStrike" spc="-201">
                <a:solidFill>
                  <a:srgbClr val="203232"/>
                </a:solidFill>
                <a:latin typeface="Arial"/>
              </a:rPr>
              <a:t>Include a snippet of the R code you use to calculate your test statistic.</a:t>
            </a:r>
            <a:endParaRPr/>
          </a:p>
          <a:p>
            <a:pPr marL="285750" indent="-285750">
              <a:buFont typeface="Arial"/>
              <a:buChar char="•"/>
              <a:defRPr/>
            </a:pPr>
            <a:r>
              <a:rPr lang="en-US" sz="3600" b="0" strike="noStrike" spc="-201">
                <a:solidFill>
                  <a:srgbClr val="203232"/>
                </a:solidFill>
                <a:latin typeface="Arial"/>
              </a:rPr>
              <a:t>Give the value of the test statistic. </a:t>
            </a:r>
            <a:endParaRPr/>
          </a:p>
          <a:p>
            <a:pPr marL="285750" indent="-285750">
              <a:buFont typeface="Arial"/>
              <a:buChar char="•"/>
              <a:defRPr/>
            </a:pPr>
            <a:r>
              <a:rPr lang="en-US" sz="3600" b="0" strike="noStrike" spc="-201">
                <a:solidFill>
                  <a:srgbClr val="203232"/>
                </a:solidFill>
                <a:latin typeface="Arial"/>
              </a:rPr>
              <a:t>Tell us the p-value.  Is </a:t>
            </a:r>
            <a:r>
              <a:rPr lang="en-US" sz="3600" spc="-201">
                <a:solidFill>
                  <a:srgbClr val="203232"/>
                </a:solidFill>
                <a:latin typeface="Arial"/>
              </a:rPr>
              <a:t>the p-value</a:t>
            </a:r>
            <a:r>
              <a:rPr lang="en-US" sz="3600" b="0" strike="noStrike" spc="-201">
                <a:solidFill>
                  <a:srgbClr val="203232"/>
                </a:solidFill>
                <a:latin typeface="Arial"/>
              </a:rPr>
              <a:t> &gt; or &lt; 0.05?</a:t>
            </a:r>
            <a:r>
              <a:rPr lang="en-GB" sz="3600" b="0" strike="noStrike" spc="-200">
                <a:solidFill>
                  <a:srgbClr val="203232"/>
                </a:solidFill>
                <a:latin typeface="Arial"/>
              </a:rPr>
              <a:t> </a:t>
            </a:r>
            <a:endParaRPr lang="en-GB" sz="3600" b="0" strike="noStrike" spc="-200">
              <a:solidFill>
                <a:srgbClr val="203232"/>
              </a:solidFill>
              <a:latin typeface="Arial"/>
            </a:endParaRPr>
          </a:p>
          <a:p>
            <a:pPr marL="285750" indent="-285750">
              <a:buFont typeface="Arial"/>
              <a:buChar char="•"/>
              <a:defRPr/>
            </a:pPr>
            <a:r>
              <a:rPr lang="en-GB" sz="3600" b="0" strike="noStrike" spc="-200">
                <a:solidFill>
                  <a:srgbClr val="203232"/>
                </a:solidFill>
                <a:latin typeface="Arial"/>
              </a:rPr>
              <a:t>The p-value is less than 0.05</a:t>
            </a:r>
            <a:endParaRPr/>
          </a:p>
          <a:p>
            <a:pPr marL="285750" indent="-285750">
              <a:buFont typeface="Arial"/>
              <a:buChar char="•"/>
              <a:defRPr/>
            </a:pPr>
            <a:r>
              <a:rPr lang="en-US" sz="3600" b="0" strike="noStrike" spc="-201">
                <a:solidFill>
                  <a:srgbClr val="203232"/>
                </a:solidFill>
                <a:latin typeface="Arial"/>
              </a:rPr>
              <a:t> Is the result significant?</a:t>
            </a:r>
            <a:endParaRPr/>
          </a:p>
          <a:p>
            <a:pPr marL="285750" indent="-285750">
              <a:buFont typeface="Arial"/>
              <a:buChar char="•"/>
              <a:defRPr/>
            </a:pPr>
            <a:r>
              <a:rPr lang="en-US" sz="3600" b="0" strike="noStrike" spc="-201">
                <a:solidFill>
                  <a:srgbClr val="203232"/>
                </a:solidFill>
                <a:latin typeface="Arial"/>
              </a:rPr>
              <a:t>Do you ‘</a:t>
            </a:r>
            <a:r>
              <a:rPr lang="en-US" sz="3600" spc="-201">
                <a:solidFill>
                  <a:srgbClr val="203232"/>
                </a:solidFill>
                <a:latin typeface="Arial"/>
              </a:rPr>
              <a:t>fail to reject the </a:t>
            </a:r>
            <a:r>
              <a:rPr lang="en-US" sz="3600" spc="-201">
                <a:solidFill>
                  <a:srgbClr val="203232"/>
                </a:solidFill>
                <a:latin typeface="Arial"/>
              </a:rPr>
              <a:t>null hypothesis’</a:t>
            </a:r>
            <a:r>
              <a:rPr lang="en-US" sz="3600" b="0" strike="noStrike" spc="-201">
                <a:solidFill>
                  <a:srgbClr val="203232"/>
                </a:solidFill>
                <a:latin typeface="Arial"/>
              </a:rPr>
              <a:t> or ‘reject </a:t>
            </a:r>
            <a:r>
              <a:rPr lang="en-US" sz="3600" b="0" strike="noStrike" spc="-201">
                <a:solidFill>
                  <a:srgbClr val="203232"/>
                </a:solidFill>
                <a:latin typeface="Arial"/>
              </a:rPr>
              <a:t>the </a:t>
            </a:r>
            <a:r>
              <a:rPr lang="en-US" sz="3600" b="0" strike="noStrike" spc="-201">
                <a:solidFill>
                  <a:srgbClr val="203232"/>
                </a:solidFill>
                <a:latin typeface="Arial"/>
              </a:rPr>
              <a:t>null hypothesis’?</a:t>
            </a:r>
            <a:endParaRPr lang="en-US" sz="3600" b="0" strike="noStrike" spc="-201">
              <a:solidFill>
                <a:srgbClr val="203232"/>
              </a:solidFill>
              <a:latin typeface="Arial"/>
            </a:endParaRPr>
          </a:p>
          <a:p>
            <a:pPr marL="285750" indent="-285750">
              <a:buFont typeface="Arial"/>
              <a:buChar char="•"/>
              <a:defRPr/>
            </a:pPr>
            <a:r>
              <a:rPr lang="en-US" sz="3600" spc="-201">
                <a:solidFill>
                  <a:srgbClr val="203232"/>
                </a:solidFill>
                <a:latin typeface="Arial"/>
              </a:rPr>
              <a:t>What does the result actually mean in the wider context of learning something useful / answering your RQ?</a:t>
            </a:r>
            <a:endParaRPr lang="en-GB" sz="3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5188804" name=""/>
          <p:cNvSpPr txBox="1"/>
          <p:nvPr/>
        </p:nvSpPr>
        <p:spPr bwMode="auto">
          <a:xfrm rot="0" flipH="0" flipV="0">
            <a:off x="447341" y="494335"/>
            <a:ext cx="14144321" cy="13719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GB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Correlation test R code:</a:t>
            </a:r>
            <a:endParaRPr sz="28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cor.test(d_c$loan_amnt, </a:t>
            </a:r>
            <a:endParaRPr sz="2800" b="0" i="0" u="none" strike="noStrike" cap="none" spc="0">
              <a:solidFill>
                <a:schemeClr val="tx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d_c$person_income, method = "spearman")</a:t>
            </a:r>
            <a:endParaRPr sz="2800"/>
          </a:p>
        </p:txBody>
      </p:sp>
      <p:sp>
        <p:nvSpPr>
          <p:cNvPr id="1482473994" name=""/>
          <p:cNvSpPr txBox="1"/>
          <p:nvPr/>
        </p:nvSpPr>
        <p:spPr bwMode="auto">
          <a:xfrm rot="0" flipH="0" flipV="0">
            <a:off x="748765" y="1784430"/>
            <a:ext cx="914399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pic>
        <p:nvPicPr>
          <p:cNvPr id="143456674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6293733" y="3061949"/>
            <a:ext cx="5125442" cy="1793904"/>
          </a:xfrm>
          <a:prstGeom prst="rect">
            <a:avLst/>
          </a:prstGeom>
        </p:spPr>
      </p:pic>
      <p:sp>
        <p:nvSpPr>
          <p:cNvPr id="2096150498" name=""/>
          <p:cNvSpPr txBox="1"/>
          <p:nvPr/>
        </p:nvSpPr>
        <p:spPr bwMode="auto">
          <a:xfrm rot="0" flipH="0" flipV="0">
            <a:off x="387056" y="5421665"/>
            <a:ext cx="11232297" cy="88427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GB" sz="2600"/>
              <a:t>Although personal income </a:t>
            </a:r>
            <a:r>
              <a:rPr lang="en-GB" sz="26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of applicant</a:t>
            </a:r>
            <a:r>
              <a:rPr lang="en-GB" sz="2600"/>
              <a:t> is used in the decision making , </a:t>
            </a:r>
            <a:endParaRPr sz="2600"/>
          </a:p>
          <a:p>
            <a:pPr>
              <a:defRPr/>
            </a:pPr>
            <a:r>
              <a:rPr lang="en-GB" sz="2600"/>
              <a:t>other factors also contr</a:t>
            </a:r>
            <a:r>
              <a:rPr lang="en-GB" sz="2600"/>
              <a:t>ibute to determine</a:t>
            </a:r>
            <a:r>
              <a:rPr lang="en-GB" sz="26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how much credit they can access.</a:t>
            </a:r>
            <a:endParaRPr sz="2600"/>
          </a:p>
        </p:txBody>
      </p:sp>
      <p:sp>
        <p:nvSpPr>
          <p:cNvPr id="1331530853" name=""/>
          <p:cNvSpPr txBox="1"/>
          <p:nvPr/>
        </p:nvSpPr>
        <p:spPr bwMode="auto">
          <a:xfrm rot="0" flipH="0" flipV="0">
            <a:off x="447341" y="3318461"/>
            <a:ext cx="8640641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5750" indent="-285750" algn="l">
              <a:buFont typeface="Arial"/>
              <a:buChar char="•"/>
              <a:defRPr/>
            </a:pPr>
            <a:r>
              <a:rPr lang="en-GB" sz="3600" b="0" strike="noStrike" spc="-199">
                <a:solidFill>
                  <a:srgbClr val="203232"/>
                </a:solidFill>
                <a:latin typeface="Arial"/>
              </a:rPr>
              <a:t>The p-value is less than 0.05</a:t>
            </a:r>
            <a:endParaRPr sz="3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Herts Theme">
  <a:themeElements>
    <a:clrScheme name="Custom 2">
      <a:dk1>
        <a:srgbClr val="203232"/>
      </a:dk1>
      <a:lt1>
        <a:srgbClr val="FFFFFF"/>
      </a:lt1>
      <a:dk2>
        <a:srgbClr val="203232"/>
      </a:dk2>
      <a:lt2>
        <a:srgbClr val="FFFFFF"/>
      </a:lt2>
      <a:accent1>
        <a:srgbClr val="9C5FB5"/>
      </a:accent1>
      <a:accent2>
        <a:srgbClr val="00B9E4"/>
      </a:accent2>
      <a:accent3>
        <a:srgbClr val="F53F5B"/>
      </a:accent3>
      <a:accent4>
        <a:srgbClr val="0073CF"/>
      </a:accent4>
      <a:accent5>
        <a:srgbClr val="45B382"/>
      </a:accent5>
      <a:accent6>
        <a:srgbClr val="FFCF20"/>
      </a:accent6>
      <a:hlink>
        <a:srgbClr val="0073CF"/>
      </a:hlink>
      <a:folHlink>
        <a:srgbClr val="9C5FB5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customXml/_rels/item1.xml.rels><?xml version="1.0" encoding="UTF-8" standalone="yes"?><Relationships xmlns="http://schemas.openxmlformats.org/package/2006/relationships"><Relationship  Id="rId1" Type="http://schemas.openxmlformats.org/officeDocument/2006/relationships/customXmlProps" Target="itemProps1.xml"/></Relationships>
</file>

<file path=customXml/_rels/item2.xml.rels><?xml version="1.0" encoding="UTF-8" standalone="yes"?><Relationships xmlns="http://schemas.openxmlformats.org/package/2006/relationships"><Relationship  Id="rId1" Type="http://schemas.openxmlformats.org/officeDocument/2006/relationships/customXmlProps" Target="itemProps2.xml"/></Relationships>
</file>

<file path=customXml/_rels/item3.xml.rels><?xml version="1.0" encoding="UTF-8" standalone="yes"?><Relationships xmlns="http://schemas.openxmlformats.org/package/2006/relationships"><Relationship 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nformation xmlns="4ad138b4-2b68-4b70-945d-07f8f18b1c9a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6DBA85F447B164191BB36C258697B67" ma:contentTypeVersion="14" ma:contentTypeDescription="Create a new document." ma:contentTypeScope="" ma:versionID="ea511d05ca7f895fe9556935b5c9af34">
  <xsd:schema xmlns:xsd="http://www.w3.org/2001/XMLSchema" xmlns:xs="http://www.w3.org/2001/XMLSchema" xmlns:p="http://schemas.microsoft.com/office/2006/metadata/properties" xmlns:ns2="4ad138b4-2b68-4b70-945d-07f8f18b1c9a" xmlns:ns3="3c474641-ec36-472f-b125-6b1b0910eaa4" targetNamespace="http://schemas.microsoft.com/office/2006/metadata/properties" ma:root="true" ma:fieldsID="662270106d7a7e100bcac2c5f8d29899" ns2:_="" ns3:_="">
    <xsd:import namespace="4ad138b4-2b68-4b70-945d-07f8f18b1c9a"/>
    <xsd:import namespace="3c474641-ec36-472f-b125-6b1b0910eaa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Information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ad138b4-2b68-4b70-945d-07f8f18b1c9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Information" ma:index="12" nillable="true" ma:displayName="Information" ma:format="Dropdown" ma:internalName="Information">
      <xsd:simpleType>
        <xsd:restriction base="dms:Text">
          <xsd:maxLength value="255"/>
        </xsd:restriction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c474641-ec36-472f-b125-6b1b0910eaa4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This value indicates the number of saves or revisions. The application is responsible for updating this value after each revision.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DD1FC41-23C7-41B0-B5F9-BF4CD38AD2ED}">
  <ds:schemaRefs>
    <ds:schemaRef ds:uri="3c474641-ec36-472f-b125-6b1b0910eaa4"/>
    <ds:schemaRef ds:uri="4ad138b4-2b68-4b70-945d-07f8f18b1c9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  <ds:schemaRef ds:uri="http://www.w3.org/2001/XMLSchema-instance"/>
  </ds:schemaRefs>
</ds:datastoreItem>
</file>

<file path=customXml/itemProps2.xml><?xml version="1.0" encoding="utf-8"?>
<ds:datastoreItem xmlns:ds="http://schemas.openxmlformats.org/officeDocument/2006/customXml" ds:itemID="{421B8C57-903D-4D0E-8336-7B512F760CD1}">
  <ds:schemaRefs>
    <ds:schemaRef ds:uri="3c474641-ec36-472f-b125-6b1b0910eaa4"/>
    <ds:schemaRef ds:uri="4ad138b4-2b68-4b70-945d-07f8f18b1c9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  <ds:schemaRef ds:uri="http://www.w3.org/2001/XMLSchema-instance"/>
  </ds:schemaRefs>
</ds:datastoreItem>
</file>

<file path=customXml/itemProps3.xml><?xml version="1.0" encoding="utf-8"?>
<ds:datastoreItem xmlns:ds="http://schemas.openxmlformats.org/officeDocument/2006/customXml" ds:itemID="{91C521DD-2673-4EE6-BB9B-DC5C3320FFB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ONLYOFFICE/9.1.0.167</Application>
  <PresentationFormat>On-screen Show (4:3)</PresentationFormat>
  <Paragraphs>0</Paragraphs>
  <Slides>11</Slides>
  <Notes>11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Joanne Harwood</dc:creator>
  <cp:lastModifiedBy/>
  <cp:revision>8</cp:revision>
  <dcterms:created xsi:type="dcterms:W3CDTF">2019-10-01T08:37:56Z</dcterms:created>
  <dcterms:modified xsi:type="dcterms:W3CDTF">2025-12-01T12:07:07Z</dcterms:modified>
</cp:coreProperties>
</file>